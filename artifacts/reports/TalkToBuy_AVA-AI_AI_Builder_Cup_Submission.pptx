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8" r:id="rId8"/>
    <p:sldId id="259" r:id="rId9"/>
    <p:sldId id="260" r:id="rId10"/>
    <p:sldId id="261" r:id="rId11"/>
    <p:sldId id="262" r:id="rId12"/>
    <p:sldId id="263" r:id="rId13"/>
    <p:sldId id="264" r:id="rId14"/>
    <p:sldId id="265" r:id="rId15"/>
    <p:sldId id="266" r:id="rId16"/>
    <p:sldId id="267" r:id="rId17"/>
    <p:sldId id="268" r:id="rId18"/>
    <p:sldId id="269" r:id="rId19"/>
    <p:sldId id="271" r:id="rId21"/>
  </p:sldIdLst>
  <p:sldSz cy="5143500" cx="9144000"/>
  <p:notesSz cx="6858000" cy="9144000"/>
  <p:embeddedFontLst>
    <p:embeddedFont>
      <p:font typeface="Google Sans Flex Medium"/>
      <p:regular r:id="rId22"/>
      <p:bold r:id="rId23"/>
    </p:embeddedFont>
    <p:embeddedFont>
      <p:font typeface="Google Sans Flex"/>
      <p:regular r:id="rId24"/>
      <p:bold r:id="rId25"/>
    </p:embeddedFont>
    <p:embeddedFont>
      <p:font typeface="Google Sans Flex SemiBold"/>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1" Type="http://schemas.openxmlformats.org/officeDocument/2006/relationships/slide" Target="slides/slide16.xml"/><Relationship Id="rId22" Type="http://schemas.openxmlformats.org/officeDocument/2006/relationships/font" Target="fonts/GoogleSansFlexMedium-regular.fntdata"/><Relationship Id="rId23" Type="http://schemas.openxmlformats.org/officeDocument/2006/relationships/font" Target="fonts/GoogleSansFlexMedium-bold.fntdata"/><Relationship Id="rId24" Type="http://schemas.openxmlformats.org/officeDocument/2006/relationships/font" Target="fonts/GoogleSansFlex-regular.fntdata"/><Relationship Id="rId25" Type="http://schemas.openxmlformats.org/officeDocument/2006/relationships/font" Target="fonts/GoogleSansFlex-bold.fntdata"/><Relationship Id="rId26" Type="http://schemas.openxmlformats.org/officeDocument/2006/relationships/font" Target="fonts/GoogleSansFlexSemiBold-regular.fntdata"/><Relationship Id="rId27" Type="http://schemas.openxmlformats.org/officeDocument/2006/relationships/font" Target="fonts/GoogleSansFlexSemi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fb085bff3c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fb085bff3c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fb085bff3c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fb085bff3c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085bff3c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085bff3c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b085bff3c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b085bff3c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fb085bff3c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fb085bff3c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fb085bff3c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fb085bff3c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fb085bff3c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fb085bff3c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b085bff3c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b085bff3c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Per-session cost range comes from the team's test runs. Live Avatar pricing is not published, so avatar video is off by default and excluded. Cloud Run, Firestore and Firebase figures still need reconciling with GCP billing.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fb085bff3c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fb085bff3c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fb085bff3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fb085bff3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Latency: 5.5-7.4 s is from the text-mode rehearsal logged on 12 Oct (target is 1.5 s). The voice run felt acceptable but has not been timed with a microphone yet. Test counts and cost per session are the team's figures; re-run the suites before submitting.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fb085bff3c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fb085bff3c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fb085bff3c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fb085bff3c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fb085bff3c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fb085bff3c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1.png"/><Relationship Id="rId6"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1.png"/><Relationship Id="rId8" Type="http://schemas.openxmlformats.org/officeDocument/2006/relationships/image" Target="../media/image9.png"/><Relationship Id="rId9"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46600" y="2902694"/>
            <a:ext cx="8760000" cy="200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100">
                <a:latin typeface="Google Sans Flex SemiBold"/>
                <a:ea typeface="Google Sans Flex SemiBold"/>
                <a:cs typeface="Google Sans Flex SemiBold"/>
                <a:sym typeface="Google Sans Flex SemiBold"/>
              </a:rPr>
              <a:t>Team Details</a:t>
            </a:r>
            <a:endParaRPr sz="2100">
              <a:latin typeface="Google Sans Flex SemiBold"/>
              <a:ea typeface="Google Sans Flex SemiBold"/>
              <a:cs typeface="Google Sans Flex SemiBold"/>
              <a:sym typeface="Google Sans Flex SemiBold"/>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a:p>
            <a:pPr indent="-342900" lvl="1" marL="914400" rtl="0" algn="l">
              <a:spcBef>
                <a:spcPts val="0"/>
              </a:spcBef>
              <a:spcAft>
                <a:spcPts val="0"/>
              </a:spcAft>
              <a:buSzPts val="1800"/>
              <a:buFont typeface="Google Sans Flex"/>
              <a:buAutoNum type="alphaLcPeriod"/>
            </a:pPr>
            <a:r>
              <a:rPr lang="en-GB" sz="1500" b="1">
                <a:latin typeface="Google Sans Flex"/>
                <a:ea typeface="Google Sans Flex"/>
                <a:cs typeface="Google Sans Flex"/>
                <a:sym typeface="Google Sans Flex"/>
              </a:rPr>
              <a:t>Team name: </a:t>
            </a:r>
            <a:r>
              <a:rPr sz="1500" lang="en-GB">
                <a:latin typeface="Google Sans Flex"/>
              </a:rPr>
              <a:t>AVA-AI  (product: TalkToBuy)  ·  Alok Jain, Vaibhav Singh, Akshada Borhade</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500" b="1">
                <a:latin typeface="Google Sans Flex"/>
                <a:ea typeface="Google Sans Flex"/>
                <a:cs typeface="Google Sans Flex"/>
                <a:sym typeface="Google Sans Flex"/>
              </a:rPr>
              <a:t>Team leader name: </a:t>
            </a:r>
            <a:r>
              <a:rPr sz="1500" lang="en-GB">
                <a:latin typeface="Google Sans Flex"/>
              </a:rPr>
              <a:t>Alok Jain</a:t>
            </a:r>
            <a:endParaRPr sz="1800">
              <a:latin typeface="Google Sans Flex"/>
              <a:ea typeface="Google Sans Flex"/>
              <a:cs typeface="Google Sans Flex"/>
              <a:sym typeface="Google Sans Flex"/>
            </a:endParaRPr>
          </a:p>
          <a:p>
            <a:pPr indent="-342900" lvl="1" marL="914400" rtl="0" algn="l">
              <a:spcBef>
                <a:spcPts val="0"/>
              </a:spcBef>
              <a:spcAft>
                <a:spcPts val="0"/>
              </a:spcAft>
              <a:buSzPts val="1800"/>
              <a:buFont typeface="Google Sans Flex"/>
              <a:buAutoNum type="alphaLcPeriod"/>
            </a:pPr>
            <a:r>
              <a:rPr lang="en-GB" sz="1200" b="1">
                <a:latin typeface="Google Sans Flex"/>
                <a:ea typeface="Google Sans Flex"/>
                <a:cs typeface="Google Sans Flex"/>
                <a:sym typeface="Google Sans Flex"/>
              </a:rPr>
              <a:t>Problem Statement: </a:t>
            </a:r>
            <a:r>
              <a:rPr sz="1200" lang="en-GB">
                <a:latin typeface="Google Sans Flex"/>
              </a:rPr>
              <a:t>Grocery apps assume people can type, search and navigate menus in English. Senior citizens and first-time smartphone users are left out. TalkToBuy lets anyone shop by speaking in their own language, and still keeps them in control of every purchase.</a:t>
            </a:r>
            <a:endParaRPr sz="1800">
              <a:latin typeface="Google Sans Flex"/>
              <a:ea typeface="Google Sans Flex"/>
              <a:cs typeface="Google Sans Flex"/>
              <a:sym typeface="Google Sans Flex"/>
            </a:endParaRPr>
          </a:p>
          <a:p>
            <a:pPr indent="0" lvl="0" marL="0" rtl="0" algn="l">
              <a:spcBef>
                <a:spcPts val="0"/>
              </a:spcBef>
              <a:spcAft>
                <a:spcPts val="0"/>
              </a:spcAft>
              <a:buNone/>
            </a:pPr>
            <a:r>
              <a:t/>
            </a:r>
            <a:endParaRPr sz="1800">
              <a:latin typeface="Google Sans Flex Medium"/>
              <a:ea typeface="Google Sans Flex Medium"/>
              <a:cs typeface="Google Sans Flex Medium"/>
              <a:sym typeface="Google Sans Flex Medium"/>
            </a:endParaRPr>
          </a:p>
        </p:txBody>
      </p:sp>
      <p:pic>
        <p:nvPicPr>
          <p:cNvPr id="55" name="Google Shape;55;p13" title="Frame 144.png"/>
          <p:cNvPicPr preferRelativeResize="0"/>
          <p:nvPr/>
        </p:nvPicPr>
        <p:blipFill>
          <a:blip r:embed="rId3">
            <a:alphaModFix/>
          </a:blip>
          <a:stretch>
            <a:fillRect/>
          </a:stretch>
        </p:blipFill>
        <p:spPr>
          <a:xfrm>
            <a:off x="0" y="-3"/>
            <a:ext cx="9144000" cy="2715526"/>
          </a:xfrm>
          <a:prstGeom prst="rect">
            <a:avLst/>
          </a:prstGeom>
          <a:noFill/>
          <a:ln>
            <a:noFill/>
          </a:ln>
        </p:spPr>
      </p:pic>
      <p:pic>
        <p:nvPicPr>
          <p:cNvPr id="56" name="Google Shape;56;p13" title="Frame 144.png"/>
          <p:cNvPicPr preferRelativeResize="0"/>
          <p:nvPr/>
        </p:nvPicPr>
        <p:blipFill rotWithShape="1">
          <a:blip r:embed="rId4">
            <a:alphaModFix/>
          </a:blip>
          <a:srcRect b="98001" l="0" r="0" t="0"/>
          <a:stretch/>
        </p:blipFill>
        <p:spPr>
          <a:xfrm>
            <a:off x="0" y="5093562"/>
            <a:ext cx="9144000" cy="54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5" title="Group 427319979.png"/>
          <p:cNvPicPr preferRelativeResize="0"/>
          <p:nvPr/>
        </p:nvPicPr>
        <p:blipFill>
          <a:blip r:embed="rId3">
            <a:alphaModFix/>
          </a:blip>
          <a:stretch>
            <a:fillRect/>
          </a:stretch>
        </p:blipFill>
        <p:spPr>
          <a:xfrm>
            <a:off x="0" y="1"/>
            <a:ext cx="9144000" cy="507359"/>
          </a:xfrm>
          <a:prstGeom prst="rect">
            <a:avLst/>
          </a:prstGeom>
          <a:noFill/>
          <a:ln>
            <a:noFill/>
          </a:ln>
        </p:spPr>
      </p:pic>
      <p:sp>
        <p:nvSpPr>
          <p:cNvPr id="70" name="Google Shape;70;p1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1" name="Google Shape;71;p1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Brief about the idea</a:t>
            </a:r>
            <a:endParaRPr sz="1600">
              <a:latin typeface="Google Sans Flex Medium"/>
              <a:ea typeface="Google Sans Flex Medium"/>
              <a:cs typeface="Google Sans Flex Medium"/>
              <a:sym typeface="Google Sans Flex Medium"/>
            </a:endParaRPr>
          </a:p>
        </p:txBody>
      </p:sp>
      <p:sp>
        <p:nvSpPr>
          <p:cNvPr id="72" name="TextBox 71"/>
          <p:cNvSpPr txBox="1"/>
          <p:nvPr/>
        </p:nvSpPr>
        <p:spPr>
          <a:xfrm>
            <a:off x="411480" y="1188720"/>
            <a:ext cx="4846320" cy="685800"/>
          </a:xfrm>
          <a:prstGeom prst="rect">
            <a:avLst/>
          </a:prstGeom>
          <a:noFill/>
        </p:spPr>
        <p:txBody>
          <a:bodyPr wrap="square" lIns="36576" rIns="36576" tIns="36576" bIns="36576" anchor="t">
            <a:spAutoFit/>
          </a:bodyPr>
          <a:lstStyle/>
          <a:p>
            <a:pPr algn="l">
              <a:spcAft>
                <a:spcPts val="300"/>
              </a:spcAft>
            </a:pPr>
            <a:r>
              <a:rPr sz="1700" b="1" i="0">
                <a:solidFill>
                  <a:srgbClr val="202124"/>
                </a:solidFill>
                <a:latin typeface="Google Sans Flex"/>
                <a:ea typeface="Google Sans Flex"/>
                <a:cs typeface="Google Sans Flex"/>
              </a:rPr>
              <a:t>A voice-first AI shopkeeper that lets anyone shop in their own language</a:t>
            </a:r>
          </a:p>
        </p:txBody>
      </p:sp>
      <p:sp>
        <p:nvSpPr>
          <p:cNvPr id="73" name="TextBox 72"/>
          <p:cNvSpPr txBox="1"/>
          <p:nvPr/>
        </p:nvSpPr>
        <p:spPr>
          <a:xfrm>
            <a:off x="411480" y="1920240"/>
            <a:ext cx="4846320" cy="2286000"/>
          </a:xfrm>
          <a:prstGeom prst="rect">
            <a:avLst/>
          </a:prstGeom>
          <a:noFill/>
        </p:spPr>
        <p:txBody>
          <a:bodyPr wrap="square" lIns="36576" rIns="36576" tIns="36576" bIns="36576" anchor="t">
            <a:spAutoFit/>
          </a:bodyPr>
          <a:lstStyle/>
          <a:p>
            <a:pPr algn="l">
              <a:spcAft>
                <a:spcPts val="800"/>
              </a:spcAft>
            </a:pPr>
            <a:r>
              <a:rPr sz="1200" b="0" i="0">
                <a:solidFill>
                  <a:srgbClr val="202124"/>
                </a:solidFill>
                <a:latin typeface="Google Sans Flex"/>
                <a:ea typeface="Google Sans Flex"/>
                <a:cs typeface="Google Sans Flex"/>
              </a:rPr>
              <a:t>Say it the way you would at the corner shop: “two litres of milk, a paav kilo of tomatoes”, or “I want to make veg biryani for 50 people”. TalkToBuy answers in Hindi or English, asks only what changes the list, fills the cart with real pack sizes, and checks out after one fingerprint on the shop's own payment screen.</a:t>
            </a:r>
          </a:p>
          <a:p>
            <a:pPr algn="l">
              <a:spcAft>
                <a:spcPts val="800"/>
              </a:spcAft>
            </a:pPr>
            <a:r>
              <a:rPr sz="1200" b="0" i="0">
                <a:solidFill>
                  <a:srgbClr val="202124"/>
                </a:solidFill>
                <a:latin typeface="Google Sans Flex"/>
                <a:ea typeface="Google Sans Flex"/>
                <a:cs typeface="Google Sans Flex"/>
              </a:rPr>
              <a:t>It embeds in a shopping app as a web component, on top of the app's own catalogue, cart and checkout through open commerce protocols (UCP and AP2). The app keeps its systems and reaches shoppers who find today's apps hard to use.</a:t>
            </a:r>
          </a:p>
        </p:txBody>
      </p:sp>
      <p:sp>
        <p:nvSpPr>
          <p:cNvPr id="74" name="Rounded Rectangle 73"/>
          <p:cNvSpPr/>
          <p:nvPr/>
        </p:nvSpPr>
        <p:spPr>
          <a:xfrm>
            <a:off x="5532120" y="1234440"/>
            <a:ext cx="2743200" cy="45720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5596128" y="1234440"/>
            <a:ext cx="2615184" cy="457200"/>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Namaste Vaibhav! How can I help you?</a:t>
            </a:r>
          </a:p>
        </p:txBody>
      </p:sp>
      <p:sp>
        <p:nvSpPr>
          <p:cNvPr id="76" name="Rounded Rectangle 75"/>
          <p:cNvSpPr/>
          <p:nvPr/>
        </p:nvSpPr>
        <p:spPr>
          <a:xfrm>
            <a:off x="5989320" y="1801368"/>
            <a:ext cx="2743200" cy="566928"/>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extBox 76"/>
          <p:cNvSpPr txBox="1"/>
          <p:nvPr/>
        </p:nvSpPr>
        <p:spPr>
          <a:xfrm>
            <a:off x="6053328" y="1801368"/>
            <a:ext cx="2615184" cy="566928"/>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Step by step. I want to make veg biryani for 50 people.</a:t>
            </a:r>
          </a:p>
        </p:txBody>
      </p:sp>
      <p:sp>
        <p:nvSpPr>
          <p:cNvPr id="78" name="Rounded Rectangle 77"/>
          <p:cNvSpPr/>
          <p:nvPr/>
        </p:nvSpPr>
        <p:spPr>
          <a:xfrm>
            <a:off x="5532120" y="2478024"/>
            <a:ext cx="2743200" cy="566928"/>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extBox 78"/>
          <p:cNvSpPr txBox="1"/>
          <p:nvPr/>
        </p:nvSpPr>
        <p:spPr>
          <a:xfrm>
            <a:off x="5596128" y="2478024"/>
            <a:ext cx="2615184" cy="566928"/>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Lovely! Is there anything you already have at home?</a:t>
            </a:r>
          </a:p>
        </p:txBody>
      </p:sp>
      <p:sp>
        <p:nvSpPr>
          <p:cNvPr id="80" name="Rounded Rectangle 79"/>
          <p:cNvSpPr/>
          <p:nvPr/>
        </p:nvSpPr>
        <p:spPr>
          <a:xfrm>
            <a:off x="5989320" y="3154680"/>
            <a:ext cx="2743200" cy="45720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6053328" y="3154680"/>
            <a:ext cx="2615184" cy="457200"/>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Salt and oil.</a:t>
            </a:r>
          </a:p>
        </p:txBody>
      </p:sp>
      <p:sp>
        <p:nvSpPr>
          <p:cNvPr id="82" name="TextBox 81"/>
          <p:cNvSpPr txBox="1"/>
          <p:nvPr/>
        </p:nvSpPr>
        <p:spPr>
          <a:xfrm>
            <a:off x="5532120" y="3703320"/>
            <a:ext cx="3200400" cy="228600"/>
          </a:xfrm>
          <a:prstGeom prst="rect">
            <a:avLst/>
          </a:prstGeom>
          <a:noFill/>
        </p:spPr>
        <p:txBody>
          <a:bodyPr wrap="square" lIns="36576" rIns="36576" tIns="36576" bIns="36576" anchor="t">
            <a:spAutoFit/>
          </a:bodyPr>
          <a:lstStyle/>
          <a:p>
            <a:pPr algn="l">
              <a:spcAft>
                <a:spcPts val="300"/>
              </a:spcAft>
            </a:pPr>
            <a:r>
              <a:rPr sz="1000" b="0" i="0">
                <a:solidFill>
                  <a:srgbClr val="5F6368"/>
                </a:solidFill>
                <a:latin typeface="Google Sans Flex"/>
                <a:ea typeface="Google Sans Flex"/>
                <a:cs typeface="Google Sans Flex"/>
              </a:rPr>
              <a:t>Shopkeeper (blue) and shopper (yellow)</a:t>
            </a:r>
          </a:p>
        </p:txBody>
      </p:sp>
      <p:sp>
        <p:nvSpPr>
          <p:cNvPr id="83" name="Rounded Rectangle 82"/>
          <p:cNvSpPr/>
          <p:nvPr/>
        </p:nvSpPr>
        <p:spPr>
          <a:xfrm>
            <a:off x="411480" y="4297680"/>
            <a:ext cx="1481328" cy="45720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411480" y="4297680"/>
            <a:ext cx="1481328" cy="457200"/>
          </a:xfrm>
          <a:prstGeom prst="rect">
            <a:avLst/>
          </a:prstGeom>
          <a:noFill/>
        </p:spPr>
        <p:txBody>
          <a:bodyPr wrap="square" lIns="36576" rIns="36576" tIns="36576" bIns="36576" anchor="ctr">
            <a:spAutoFit/>
          </a:bodyPr>
          <a:lstStyle/>
          <a:p>
            <a:pPr algn="ctr">
              <a:spcAft>
                <a:spcPts val="300"/>
              </a:spcAft>
            </a:pPr>
            <a:r>
              <a:rPr sz="1200" b="1" i="0">
                <a:solidFill>
                  <a:srgbClr val="1A73E8"/>
                </a:solidFill>
                <a:latin typeface="Google Sans Flex"/>
                <a:ea typeface="Google Sans Flex"/>
                <a:cs typeface="Google Sans Flex"/>
              </a:rPr>
              <a:t>Talk or tap</a:t>
            </a:r>
          </a:p>
        </p:txBody>
      </p:sp>
      <p:sp>
        <p:nvSpPr>
          <p:cNvPr id="85" name="Right Arrow 84"/>
          <p:cNvSpPr/>
          <p:nvPr/>
        </p:nvSpPr>
        <p:spPr>
          <a:xfrm>
            <a:off x="1920240" y="4434840"/>
            <a:ext cx="182880" cy="18288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2121408" y="4297680"/>
            <a:ext cx="1481328" cy="45720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2121408" y="4297680"/>
            <a:ext cx="1481328" cy="457200"/>
          </a:xfrm>
          <a:prstGeom prst="rect">
            <a:avLst/>
          </a:prstGeom>
          <a:noFill/>
        </p:spPr>
        <p:txBody>
          <a:bodyPr wrap="square" lIns="36576" rIns="36576" tIns="36576" bIns="36576" anchor="ctr">
            <a:spAutoFit/>
          </a:bodyPr>
          <a:lstStyle/>
          <a:p>
            <a:pPr algn="ctr">
              <a:spcAft>
                <a:spcPts val="300"/>
              </a:spcAft>
            </a:pPr>
            <a:r>
              <a:rPr sz="1200" b="1" i="0">
                <a:solidFill>
                  <a:srgbClr val="188038"/>
                </a:solidFill>
                <a:latin typeface="Google Sans Flex"/>
                <a:ea typeface="Google Sans Flex"/>
                <a:cs typeface="Google Sans Flex"/>
              </a:rPr>
              <a:t>One cart</a:t>
            </a:r>
          </a:p>
        </p:txBody>
      </p:sp>
      <p:sp>
        <p:nvSpPr>
          <p:cNvPr id="88" name="Right Arrow 87"/>
          <p:cNvSpPr/>
          <p:nvPr/>
        </p:nvSpPr>
        <p:spPr>
          <a:xfrm>
            <a:off x="3630168" y="4434840"/>
            <a:ext cx="182880" cy="18288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ounded Rectangle 88"/>
          <p:cNvSpPr/>
          <p:nvPr/>
        </p:nvSpPr>
        <p:spPr>
          <a:xfrm>
            <a:off x="3831336" y="4297680"/>
            <a:ext cx="1481328" cy="45720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TextBox 89"/>
          <p:cNvSpPr txBox="1"/>
          <p:nvPr/>
        </p:nvSpPr>
        <p:spPr>
          <a:xfrm>
            <a:off x="3831336" y="4297680"/>
            <a:ext cx="1481328" cy="457200"/>
          </a:xfrm>
          <a:prstGeom prst="rect">
            <a:avLst/>
          </a:prstGeom>
          <a:noFill/>
        </p:spPr>
        <p:txBody>
          <a:bodyPr wrap="square" lIns="36576" rIns="36576" tIns="36576" bIns="36576" anchor="ctr">
            <a:spAutoFit/>
          </a:bodyPr>
          <a:lstStyle/>
          <a:p>
            <a:pPr algn="ctr">
              <a:spcAft>
                <a:spcPts val="300"/>
              </a:spcAft>
            </a:pPr>
            <a:r>
              <a:rPr sz="1200" b="1" i="0">
                <a:solidFill>
                  <a:srgbClr val="B06000"/>
                </a:solidFill>
                <a:latin typeface="Google Sans Flex"/>
                <a:ea typeface="Google Sans Flex"/>
                <a:cs typeface="Google Sans Flex"/>
              </a:rPr>
              <a:t>Address &amp; slot</a:t>
            </a:r>
          </a:p>
        </p:txBody>
      </p:sp>
      <p:sp>
        <p:nvSpPr>
          <p:cNvPr id="91" name="Right Arrow 90"/>
          <p:cNvSpPr/>
          <p:nvPr/>
        </p:nvSpPr>
        <p:spPr>
          <a:xfrm>
            <a:off x="5340096" y="4434840"/>
            <a:ext cx="182880" cy="18288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ounded Rectangle 91"/>
          <p:cNvSpPr/>
          <p:nvPr/>
        </p:nvSpPr>
        <p:spPr>
          <a:xfrm>
            <a:off x="5541264" y="4297680"/>
            <a:ext cx="1481328" cy="457200"/>
          </a:xfrm>
          <a:prstGeom prst="roundRect">
            <a:avLst>
              <a:gd name="adj" fmla="val 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extBox 92"/>
          <p:cNvSpPr txBox="1"/>
          <p:nvPr/>
        </p:nvSpPr>
        <p:spPr>
          <a:xfrm>
            <a:off x="5541264" y="4297680"/>
            <a:ext cx="1481328" cy="457200"/>
          </a:xfrm>
          <a:prstGeom prst="rect">
            <a:avLst/>
          </a:prstGeom>
          <a:noFill/>
        </p:spPr>
        <p:txBody>
          <a:bodyPr wrap="square" lIns="36576" rIns="36576" tIns="36576" bIns="36576" anchor="ctr">
            <a:spAutoFit/>
          </a:bodyPr>
          <a:lstStyle/>
          <a:p>
            <a:pPr algn="ctr">
              <a:spcAft>
                <a:spcPts val="300"/>
              </a:spcAft>
            </a:pPr>
            <a:r>
              <a:rPr sz="1200" b="1" i="0">
                <a:solidFill>
                  <a:srgbClr val="C5221F"/>
                </a:solidFill>
                <a:latin typeface="Google Sans Flex"/>
                <a:ea typeface="Google Sans Flex"/>
                <a:cs typeface="Google Sans Flex"/>
              </a:rPr>
              <a:t>Fingerprint</a:t>
            </a:r>
          </a:p>
        </p:txBody>
      </p:sp>
      <p:sp>
        <p:nvSpPr>
          <p:cNvPr id="94" name="Right Arrow 93"/>
          <p:cNvSpPr/>
          <p:nvPr/>
        </p:nvSpPr>
        <p:spPr>
          <a:xfrm>
            <a:off x="7050024" y="4434840"/>
            <a:ext cx="182880" cy="18288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7251192" y="4297680"/>
            <a:ext cx="1481328" cy="457200"/>
          </a:xfrm>
          <a:prstGeom prst="roundRect">
            <a:avLst>
              <a:gd name="adj" fmla="val 6000"/>
            </a:avLst>
          </a:prstGeom>
          <a:solidFill>
            <a:srgbClr val="F3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TextBox 95"/>
          <p:cNvSpPr txBox="1"/>
          <p:nvPr/>
        </p:nvSpPr>
        <p:spPr>
          <a:xfrm>
            <a:off x="7251192" y="4297680"/>
            <a:ext cx="1481328" cy="457200"/>
          </a:xfrm>
          <a:prstGeom prst="rect">
            <a:avLst/>
          </a:prstGeom>
          <a:noFill/>
        </p:spPr>
        <p:txBody>
          <a:bodyPr wrap="square" lIns="36576" rIns="36576" tIns="36576" bIns="36576" anchor="ctr">
            <a:spAutoFit/>
          </a:bodyPr>
          <a:lstStyle/>
          <a:p>
            <a:pPr algn="ctr">
              <a:spcAft>
                <a:spcPts val="300"/>
              </a:spcAft>
            </a:pPr>
            <a:r>
              <a:rPr sz="1200" b="1" i="0">
                <a:solidFill>
                  <a:srgbClr val="8430CE"/>
                </a:solidFill>
                <a:latin typeface="Google Sans Flex"/>
                <a:ea typeface="Google Sans Flex"/>
                <a:cs typeface="Google Sans Flex"/>
              </a:rPr>
              <a:t>Order placed</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pic>
        <p:nvPicPr>
          <p:cNvPr id="76" name="Google Shape;76;p1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77" name="Google Shape;77;p1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78" name="Google Shape;78;p1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16"/>
          <p:cNvSpPr txBox="1"/>
          <p:nvPr/>
        </p:nvSpPr>
        <p:spPr>
          <a:xfrm>
            <a:off x="265350" y="663825"/>
            <a:ext cx="8943000" cy="136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SemiBold"/>
                <a:ea typeface="Google Sans Flex SemiBold"/>
                <a:cs typeface="Google Sans Flex SemiBold"/>
                <a:sym typeface="Google Sans Flex SemiBold"/>
              </a:rPr>
              <a:t>Opportunities</a:t>
            </a:r>
            <a:endParaRPr sz="1600">
              <a:latin typeface="Google Sans Flex SemiBold"/>
              <a:ea typeface="Google Sans Flex SemiBold"/>
              <a:cs typeface="Google Sans Flex SemiBold"/>
              <a:sym typeface="Google Sans Flex SemiBold"/>
            </a:endParaRPr>
          </a:p>
        </p:txBody>
      </p:sp>
      <p:sp>
        <p:nvSpPr>
          <p:cNvPr id="80" name="Rounded Rectangle 79"/>
          <p:cNvSpPr/>
          <p:nvPr/>
        </p:nvSpPr>
        <p:spPr>
          <a:xfrm>
            <a:off x="411480" y="1188720"/>
            <a:ext cx="2697480" cy="8686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extBox 80"/>
          <p:cNvSpPr txBox="1"/>
          <p:nvPr/>
        </p:nvSpPr>
        <p:spPr>
          <a:xfrm>
            <a:off x="502920" y="1216152"/>
            <a:ext cx="2514600" cy="365760"/>
          </a:xfrm>
          <a:prstGeom prst="rect">
            <a:avLst/>
          </a:prstGeom>
          <a:noFill/>
        </p:spPr>
        <p:txBody>
          <a:bodyPr wrap="square" lIns="36576" rIns="36576" tIns="36576" bIns="36576" anchor="t">
            <a:spAutoFit/>
          </a:bodyPr>
          <a:lstStyle/>
          <a:p>
            <a:pPr algn="l">
              <a:spcAft>
                <a:spcPts val="300"/>
              </a:spcAft>
            </a:pPr>
            <a:r>
              <a:rPr sz="2000" b="1" i="0">
                <a:solidFill>
                  <a:srgbClr val="1A73E8"/>
                </a:solidFill>
                <a:latin typeface="Google Sans Flex"/>
                <a:ea typeface="Google Sans Flex"/>
                <a:cs typeface="Google Sans Flex"/>
              </a:rPr>
              <a:t>670M</a:t>
            </a:r>
          </a:p>
        </p:txBody>
      </p:sp>
      <p:sp>
        <p:nvSpPr>
          <p:cNvPr id="82" name="TextBox 81"/>
          <p:cNvSpPr txBox="1"/>
          <p:nvPr/>
        </p:nvSpPr>
        <p:spPr>
          <a:xfrm>
            <a:off x="502920" y="1572768"/>
            <a:ext cx="2514600"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people aged 60+ in Asia-Pacific in 2022, 1.3B by 2050 (ESCAP)</a:t>
            </a:r>
          </a:p>
        </p:txBody>
      </p:sp>
      <p:sp>
        <p:nvSpPr>
          <p:cNvPr id="83" name="Rounded Rectangle 82"/>
          <p:cNvSpPr/>
          <p:nvPr/>
        </p:nvSpPr>
        <p:spPr>
          <a:xfrm>
            <a:off x="3223260" y="1188720"/>
            <a:ext cx="2697480" cy="86868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TextBox 83"/>
          <p:cNvSpPr txBox="1"/>
          <p:nvPr/>
        </p:nvSpPr>
        <p:spPr>
          <a:xfrm>
            <a:off x="3314700" y="1216152"/>
            <a:ext cx="2514600" cy="365760"/>
          </a:xfrm>
          <a:prstGeom prst="rect">
            <a:avLst/>
          </a:prstGeom>
          <a:noFill/>
        </p:spPr>
        <p:txBody>
          <a:bodyPr wrap="square" lIns="36576" rIns="36576" tIns="36576" bIns="36576" anchor="t">
            <a:spAutoFit/>
          </a:bodyPr>
          <a:lstStyle/>
          <a:p>
            <a:pPr algn="l">
              <a:spcAft>
                <a:spcPts val="300"/>
              </a:spcAft>
            </a:pPr>
            <a:r>
              <a:rPr sz="2000" b="1" i="0">
                <a:solidFill>
                  <a:srgbClr val="188038"/>
                </a:solidFill>
                <a:latin typeface="Google Sans Flex"/>
                <a:ea typeface="Google Sans Flex"/>
                <a:cs typeface="Google Sans Flex"/>
              </a:rPr>
              <a:t>9.04M</a:t>
            </a:r>
          </a:p>
        </p:txBody>
      </p:sp>
      <p:sp>
        <p:nvSpPr>
          <p:cNvPr id="85" name="TextBox 84"/>
          <p:cNvSpPr txBox="1"/>
          <p:nvPr/>
        </p:nvSpPr>
        <p:spPr>
          <a:xfrm>
            <a:off x="3314700" y="1572768"/>
            <a:ext cx="2514600"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people 65+ in Japan with difficulty accessing food, 2020 (MAFF)</a:t>
            </a:r>
          </a:p>
        </p:txBody>
      </p:sp>
      <p:sp>
        <p:nvSpPr>
          <p:cNvPr id="86" name="Rounded Rectangle 85"/>
          <p:cNvSpPr/>
          <p:nvPr/>
        </p:nvSpPr>
        <p:spPr>
          <a:xfrm>
            <a:off x="6035040" y="1188720"/>
            <a:ext cx="2697480" cy="86868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6126480" y="1216152"/>
            <a:ext cx="2514600" cy="365760"/>
          </a:xfrm>
          <a:prstGeom prst="rect">
            <a:avLst/>
          </a:prstGeom>
          <a:noFill/>
        </p:spPr>
        <p:txBody>
          <a:bodyPr wrap="square" lIns="36576" rIns="36576" tIns="36576" bIns="36576" anchor="t">
            <a:spAutoFit/>
          </a:bodyPr>
          <a:lstStyle/>
          <a:p>
            <a:pPr algn="l">
              <a:spcAft>
                <a:spcPts val="300"/>
              </a:spcAft>
            </a:pPr>
            <a:r>
              <a:rPr sz="2000" b="1" i="0">
                <a:solidFill>
                  <a:srgbClr val="B06000"/>
                </a:solidFill>
                <a:latin typeface="Google Sans Flex"/>
                <a:ea typeface="Google Sans Flex"/>
                <a:cs typeface="Google Sans Flex"/>
              </a:rPr>
              <a:t>$0.01–0.04</a:t>
            </a:r>
          </a:p>
        </p:txBody>
      </p:sp>
      <p:sp>
        <p:nvSpPr>
          <p:cNvPr id="88" name="TextBox 87"/>
          <p:cNvSpPr txBox="1"/>
          <p:nvPr/>
        </p:nvSpPr>
        <p:spPr>
          <a:xfrm>
            <a:off x="6126480" y="1572768"/>
            <a:ext cx="2514600"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per voice session in our test runs, so it scales cheaply</a:t>
            </a:r>
          </a:p>
        </p:txBody>
      </p:sp>
      <p:sp>
        <p:nvSpPr>
          <p:cNvPr id="89" name="Rounded Rectangle 88"/>
          <p:cNvSpPr/>
          <p:nvPr/>
        </p:nvSpPr>
        <p:spPr>
          <a:xfrm>
            <a:off x="411480" y="2194560"/>
            <a:ext cx="2697480" cy="26974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Rounded Rectangle 89"/>
          <p:cNvSpPr/>
          <p:nvPr/>
        </p:nvSpPr>
        <p:spPr>
          <a:xfrm>
            <a:off x="521208" y="2304288"/>
            <a:ext cx="2478024" cy="347472"/>
          </a:xfrm>
          <a:prstGeom prst="roundRect">
            <a:avLst>
              <a:gd name="adj" fmla="val 6000"/>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extBox 90"/>
          <p:cNvSpPr txBox="1"/>
          <p:nvPr/>
        </p:nvSpPr>
        <p:spPr>
          <a:xfrm>
            <a:off x="521208" y="2304288"/>
            <a:ext cx="2478024" cy="347472"/>
          </a:xfrm>
          <a:prstGeom prst="rect">
            <a:avLst/>
          </a:prstGeom>
          <a:noFill/>
        </p:spPr>
        <p:txBody>
          <a:bodyPr wrap="square" tIns="91440" bIns="91440" anchor="ctr">
            <a:spAutoFit/>
          </a:bodyPr>
          <a:lstStyle/>
          <a:p>
            <a:pPr algn="l">
              <a:spcAft>
                <a:spcPts val="300"/>
              </a:spcAft>
            </a:pPr>
            <a:r>
              <a:rPr sz="1200" b="1" i="0">
                <a:solidFill>
                  <a:srgbClr val="FFFFFF"/>
                </a:solidFill>
                <a:latin typeface="Google Sans Flex"/>
                <a:ea typeface="Google Sans Flex"/>
                <a:cs typeface="Google Sans Flex"/>
              </a:rPr>
              <a:t>How is it different?</a:t>
            </a:r>
          </a:p>
        </p:txBody>
      </p:sp>
      <p:sp>
        <p:nvSpPr>
          <p:cNvPr id="92" name="TextBox 91"/>
          <p:cNvSpPr txBox="1"/>
          <p:nvPr/>
        </p:nvSpPr>
        <p:spPr>
          <a:xfrm>
            <a:off x="521208" y="2743200"/>
            <a:ext cx="2478024" cy="2103120"/>
          </a:xfrm>
          <a:prstGeom prst="rect">
            <a:avLst/>
          </a:prstGeom>
          <a:noFill/>
        </p:spPr>
        <p:txBody>
          <a:bodyPr wrap="square" lIns="36576" rIns="36576" tIns="36576" bIns="36576" anchor="t">
            <a:spAutoFit/>
          </a:bodyPr>
          <a:lstStyle/>
          <a:p>
            <a:pPr algn="l" marL="160000" indent="-160000">
              <a:spcAft>
                <a:spcPts val="500"/>
              </a:spcAft>
              <a:buChar char="•"/>
            </a:pPr>
            <a:r>
              <a:rPr sz="1100" b="0" i="0">
                <a:solidFill>
                  <a:srgbClr val="202124"/>
                </a:solidFill>
                <a:latin typeface="Google Sans Flex"/>
                <a:ea typeface="Google Sans Flex"/>
                <a:cs typeface="Google Sans Flex"/>
              </a:rPr>
              <a:t>Voice ordering today takes orders; TalkToBuy turns a goal into a full list</a:t>
            </a:r>
          </a:p>
          <a:p>
            <a:pPr algn="l" marL="160000" indent="-160000">
              <a:spcAft>
                <a:spcPts val="500"/>
              </a:spcAft>
              <a:buChar char="•"/>
            </a:pPr>
            <a:r>
              <a:rPr sz="1100" b="0" i="0">
                <a:solidFill>
                  <a:srgbClr val="202124"/>
                </a:solidFill>
                <a:latin typeface="Google Sans Flex"/>
                <a:ea typeface="Google Sans Flex"/>
                <a:cs typeface="Google Sans Flex"/>
              </a:rPr>
              <a:t>Judges amounts: 50 people means about 5 kg of rice, not 50 packets</a:t>
            </a:r>
          </a:p>
          <a:p>
            <a:pPr algn="l" marL="160000" indent="-160000">
              <a:spcAft>
                <a:spcPts val="500"/>
              </a:spcAft>
              <a:buChar char="•"/>
            </a:pPr>
            <a:r>
              <a:rPr sz="1100" b="0" i="0">
                <a:solidFill>
                  <a:srgbClr val="202124"/>
                </a:solidFill>
                <a:latin typeface="Google Sans Flex"/>
                <a:ea typeface="Google Sans Flex"/>
                <a:cs typeface="Google Sans Flex"/>
              </a:rPr>
              <a:t>Tap and talk share one live cart</a:t>
            </a:r>
          </a:p>
          <a:p>
            <a:pPr algn="l" marL="160000" indent="-160000">
              <a:spcAft>
                <a:spcPts val="500"/>
              </a:spcAft>
              <a:buChar char="•"/>
            </a:pPr>
            <a:r>
              <a:rPr sz="1100" b="0" i="0">
                <a:solidFill>
                  <a:srgbClr val="202124"/>
                </a:solidFill>
                <a:latin typeface="Google Sans Flex"/>
                <a:ea typeface="Google Sans Flex"/>
                <a:cs typeface="Google Sans Flex"/>
              </a:rPr>
              <a:t>Plugs into a store instead of replacing it</a:t>
            </a:r>
          </a:p>
        </p:txBody>
      </p:sp>
      <p:sp>
        <p:nvSpPr>
          <p:cNvPr id="93" name="Rounded Rectangle 92"/>
          <p:cNvSpPr/>
          <p:nvPr/>
        </p:nvSpPr>
        <p:spPr>
          <a:xfrm>
            <a:off x="3223260" y="2194560"/>
            <a:ext cx="2697480" cy="26974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Rounded Rectangle 93"/>
          <p:cNvSpPr/>
          <p:nvPr/>
        </p:nvSpPr>
        <p:spPr>
          <a:xfrm>
            <a:off x="3332988" y="2304288"/>
            <a:ext cx="2478024" cy="347472"/>
          </a:xfrm>
          <a:prstGeom prst="roundRect">
            <a:avLst>
              <a:gd name="adj" fmla="val 6000"/>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extBox 94"/>
          <p:cNvSpPr txBox="1"/>
          <p:nvPr/>
        </p:nvSpPr>
        <p:spPr>
          <a:xfrm>
            <a:off x="3332988" y="2304288"/>
            <a:ext cx="2478024" cy="347472"/>
          </a:xfrm>
          <a:prstGeom prst="rect">
            <a:avLst/>
          </a:prstGeom>
          <a:noFill/>
        </p:spPr>
        <p:txBody>
          <a:bodyPr wrap="square" tIns="91440" bIns="91440" anchor="ctr">
            <a:spAutoFit/>
          </a:bodyPr>
          <a:lstStyle/>
          <a:p>
            <a:pPr algn="l">
              <a:spcAft>
                <a:spcPts val="300"/>
              </a:spcAft>
            </a:pPr>
            <a:r>
              <a:rPr sz="1200" b="1" i="0">
                <a:solidFill>
                  <a:srgbClr val="FFFFFF"/>
                </a:solidFill>
                <a:latin typeface="Google Sans Flex"/>
                <a:ea typeface="Google Sans Flex"/>
                <a:cs typeface="Google Sans Flex"/>
              </a:rPr>
              <a:t>How does it solve it?</a:t>
            </a:r>
          </a:p>
        </p:txBody>
      </p:sp>
      <p:sp>
        <p:nvSpPr>
          <p:cNvPr id="96" name="TextBox 95"/>
          <p:cNvSpPr txBox="1"/>
          <p:nvPr/>
        </p:nvSpPr>
        <p:spPr>
          <a:xfrm>
            <a:off x="3332988" y="2743200"/>
            <a:ext cx="2478024" cy="2103120"/>
          </a:xfrm>
          <a:prstGeom prst="rect">
            <a:avLst/>
          </a:prstGeom>
          <a:noFill/>
        </p:spPr>
        <p:txBody>
          <a:bodyPr wrap="square" lIns="36576" rIns="36576" tIns="36576" bIns="36576" anchor="t">
            <a:spAutoFit/>
          </a:bodyPr>
          <a:lstStyle/>
          <a:p>
            <a:pPr algn="l" marL="160000" indent="-160000">
              <a:spcAft>
                <a:spcPts val="500"/>
              </a:spcAft>
              <a:buChar char="•"/>
            </a:pPr>
            <a:r>
              <a:rPr sz="1100" b="0" i="0">
                <a:solidFill>
                  <a:srgbClr val="202124"/>
                </a:solidFill>
                <a:latin typeface="Google Sans Flex"/>
                <a:ea typeface="Google Sans Flex"/>
                <a:cs typeface="Google Sans Flex"/>
              </a:rPr>
              <a:t>No typing, no menus: just speak in Hindi or English</a:t>
            </a:r>
          </a:p>
          <a:p>
            <a:pPr algn="l" marL="160000" indent="-160000">
              <a:spcAft>
                <a:spcPts val="500"/>
              </a:spcAft>
              <a:buChar char="•"/>
            </a:pPr>
            <a:r>
              <a:rPr sz="1100" b="0" i="0">
                <a:solidFill>
                  <a:srgbClr val="202124"/>
                </a:solidFill>
                <a:latin typeface="Google Sans Flex"/>
                <a:ea typeface="Google Sans Flex"/>
                <a:cs typeface="Google Sans Flex"/>
              </a:rPr>
              <a:t>Replies in the shopper's language, with captions on screen</a:t>
            </a:r>
          </a:p>
          <a:p>
            <a:pPr algn="l" marL="160000" indent="-160000">
              <a:spcAft>
                <a:spcPts val="500"/>
              </a:spcAft>
              <a:buChar char="•"/>
            </a:pPr>
            <a:r>
              <a:rPr sz="1100" b="0" i="0">
                <a:solidFill>
                  <a:srgbClr val="202124"/>
                </a:solidFill>
                <a:latin typeface="Google Sans Flex"/>
                <a:ea typeface="Google Sans Flex"/>
                <a:cs typeface="Google Sans Flex"/>
              </a:rPr>
              <a:t>Never rushes: one question at a time, step by step by default</a:t>
            </a:r>
          </a:p>
          <a:p>
            <a:pPr algn="l" marL="160000" indent="-160000">
              <a:spcAft>
                <a:spcPts val="500"/>
              </a:spcAft>
              <a:buChar char="•"/>
            </a:pPr>
            <a:r>
              <a:rPr sz="1100" b="0" i="0">
                <a:solidFill>
                  <a:srgbClr val="202124"/>
                </a:solidFill>
                <a:latin typeface="Google Sans Flex"/>
                <a:ea typeface="Google Sans Flex"/>
                <a:cs typeface="Google Sans Flex"/>
              </a:rPr>
              <a:t>Nothing guessed is bought, and payment is by fingerprint only</a:t>
            </a:r>
          </a:p>
        </p:txBody>
      </p:sp>
      <p:sp>
        <p:nvSpPr>
          <p:cNvPr id="97" name="Rounded Rectangle 96"/>
          <p:cNvSpPr/>
          <p:nvPr/>
        </p:nvSpPr>
        <p:spPr>
          <a:xfrm>
            <a:off x="6035040" y="2194560"/>
            <a:ext cx="2697480" cy="26974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8" name="Rounded Rectangle 97"/>
          <p:cNvSpPr/>
          <p:nvPr/>
        </p:nvSpPr>
        <p:spPr>
          <a:xfrm>
            <a:off x="6144768" y="2304288"/>
            <a:ext cx="2478024" cy="347472"/>
          </a:xfrm>
          <a:prstGeom prst="roundRect">
            <a:avLst>
              <a:gd name="adj" fmla="val 6000"/>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6144768" y="2304288"/>
            <a:ext cx="2478024" cy="347472"/>
          </a:xfrm>
          <a:prstGeom prst="rect">
            <a:avLst/>
          </a:prstGeom>
          <a:noFill/>
        </p:spPr>
        <p:txBody>
          <a:bodyPr wrap="square" tIns="91440" bIns="91440" anchor="ctr">
            <a:spAutoFit/>
          </a:bodyPr>
          <a:lstStyle/>
          <a:p>
            <a:pPr algn="l">
              <a:spcAft>
                <a:spcPts val="300"/>
              </a:spcAft>
            </a:pPr>
            <a:r>
              <a:rPr sz="1200" b="1" i="0">
                <a:solidFill>
                  <a:srgbClr val="FFFFFF"/>
                </a:solidFill>
                <a:latin typeface="Google Sans Flex"/>
                <a:ea typeface="Google Sans Flex"/>
                <a:cs typeface="Google Sans Flex"/>
              </a:rPr>
              <a:t>Our USP</a:t>
            </a:r>
          </a:p>
        </p:txBody>
      </p:sp>
      <p:sp>
        <p:nvSpPr>
          <p:cNvPr id="100" name="TextBox 99"/>
          <p:cNvSpPr txBox="1"/>
          <p:nvPr/>
        </p:nvSpPr>
        <p:spPr>
          <a:xfrm>
            <a:off x="6144768" y="2743200"/>
            <a:ext cx="2478024" cy="2103120"/>
          </a:xfrm>
          <a:prstGeom prst="rect">
            <a:avLst/>
          </a:prstGeom>
          <a:noFill/>
        </p:spPr>
        <p:txBody>
          <a:bodyPr wrap="square" lIns="36576" rIns="36576" tIns="36576" bIns="36576" anchor="t">
            <a:spAutoFit/>
          </a:bodyPr>
          <a:lstStyle/>
          <a:p>
            <a:pPr algn="l" marL="160000" indent="-160000">
              <a:spcAft>
                <a:spcPts val="500"/>
              </a:spcAft>
              <a:buChar char="•"/>
            </a:pPr>
            <a:r>
              <a:rPr sz="1100" b="0" i="0">
                <a:solidFill>
                  <a:srgbClr val="202124"/>
                </a:solidFill>
                <a:latin typeface="Google Sans Flex"/>
                <a:ea typeface="Google Sans Flex"/>
                <a:cs typeface="Google Sans Flex"/>
              </a:rPr>
              <a:t>A goal becomes a complete cart in one conversation</a:t>
            </a:r>
          </a:p>
          <a:p>
            <a:pPr algn="l" marL="160000" indent="-160000">
              <a:spcAft>
                <a:spcPts val="500"/>
              </a:spcAft>
              <a:buChar char="•"/>
            </a:pPr>
            <a:r>
              <a:rPr sz="1100" b="0" i="0">
                <a:solidFill>
                  <a:srgbClr val="202124"/>
                </a:solidFill>
                <a:latin typeface="Google Sans Flex"/>
                <a:ea typeface="Google Sans Flex"/>
                <a:cs typeface="Google Sans Flex"/>
              </a:rPr>
              <a:t>Understands Indian units: paav kilo, dedh litre</a:t>
            </a:r>
          </a:p>
          <a:p>
            <a:pPr algn="l" marL="160000" indent="-160000">
              <a:spcAft>
                <a:spcPts val="500"/>
              </a:spcAft>
              <a:buChar char="•"/>
            </a:pPr>
            <a:r>
              <a:rPr sz="1100" b="0" i="0">
                <a:solidFill>
                  <a:srgbClr val="202124"/>
                </a:solidFill>
                <a:latin typeface="Google Sans Flex"/>
                <a:ea typeface="Google Sans Flex"/>
                <a:cs typeface="Google Sans Flex"/>
              </a:rPr>
              <a:t>Elder-first trust: no OTP or PIN asked, no health claims, no media stored</a:t>
            </a:r>
          </a:p>
          <a:p>
            <a:pPr algn="l" marL="160000" indent="-160000">
              <a:spcAft>
                <a:spcPts val="500"/>
              </a:spcAft>
              <a:buChar char="•"/>
            </a:pPr>
            <a:r>
              <a:rPr sz="1100" b="0" i="0">
                <a:solidFill>
                  <a:srgbClr val="202124"/>
                </a:solidFill>
                <a:latin typeface="Google Sans Flex"/>
                <a:ea typeface="Google Sans Flex"/>
                <a:cs typeface="Google Sans Flex"/>
              </a:rPr>
              <a:t>Open standards (UCP, AP2): integrates faster than it can be built</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7"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85" name="Google Shape;85;p17"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86" name="Google Shape;86;p17"/>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7"/>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List of features offered by the solution</a:t>
            </a:r>
            <a:endParaRPr sz="1600">
              <a:latin typeface="Google Sans Flex Medium"/>
              <a:ea typeface="Google Sans Flex Medium"/>
              <a:cs typeface="Google Sans Flex Medium"/>
              <a:sym typeface="Google Sans Flex Medium"/>
            </a:endParaRPr>
          </a:p>
        </p:txBody>
      </p:sp>
      <p:sp>
        <p:nvSpPr>
          <p:cNvPr id="88" name="Rounded Rectangle 87"/>
          <p:cNvSpPr/>
          <p:nvPr/>
        </p:nvSpPr>
        <p:spPr>
          <a:xfrm>
            <a:off x="411480" y="1188720"/>
            <a:ext cx="1993392" cy="1783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Oval 88"/>
          <p:cNvSpPr/>
          <p:nvPr/>
        </p:nvSpPr>
        <p:spPr>
          <a:xfrm>
            <a:off x="502920" y="129844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1</a:t>
            </a:r>
          </a:p>
        </p:txBody>
      </p:sp>
      <p:sp>
        <p:nvSpPr>
          <p:cNvPr id="90" name="TextBox 89"/>
          <p:cNvSpPr txBox="1"/>
          <p:nvPr/>
        </p:nvSpPr>
        <p:spPr>
          <a:xfrm>
            <a:off x="850392" y="1252728"/>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Speech-to-speech voice</a:t>
            </a:r>
          </a:p>
        </p:txBody>
      </p:sp>
      <p:sp>
        <p:nvSpPr>
          <p:cNvPr id="91" name="TextBox 90"/>
          <p:cNvSpPr txBox="1"/>
          <p:nvPr/>
        </p:nvSpPr>
        <p:spPr>
          <a:xfrm>
            <a:off x="502920" y="1755648"/>
            <a:ext cx="1810512" cy="11887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Real-time Hindi and English conversation on Gemini Live. Interrupt any time; captions on screen.</a:t>
            </a:r>
          </a:p>
        </p:txBody>
      </p:sp>
      <p:sp>
        <p:nvSpPr>
          <p:cNvPr id="92" name="Rounded Rectangle 91"/>
          <p:cNvSpPr/>
          <p:nvPr/>
        </p:nvSpPr>
        <p:spPr>
          <a:xfrm>
            <a:off x="2532888" y="1188720"/>
            <a:ext cx="1993392" cy="1783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Oval 92"/>
          <p:cNvSpPr/>
          <p:nvPr/>
        </p:nvSpPr>
        <p:spPr>
          <a:xfrm>
            <a:off x="2624328" y="1298448"/>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2</a:t>
            </a:r>
          </a:p>
        </p:txBody>
      </p:sp>
      <p:sp>
        <p:nvSpPr>
          <p:cNvPr id="94" name="TextBox 93"/>
          <p:cNvSpPr txBox="1"/>
          <p:nvPr/>
        </p:nvSpPr>
        <p:spPr>
          <a:xfrm>
            <a:off x="2971800" y="1252728"/>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Goal to full list</a:t>
            </a:r>
          </a:p>
        </p:txBody>
      </p:sp>
      <p:sp>
        <p:nvSpPr>
          <p:cNvPr id="95" name="TextBox 94"/>
          <p:cNvSpPr txBox="1"/>
          <p:nvPr/>
        </p:nvSpPr>
        <p:spPr>
          <a:xfrm>
            <a:off x="2624328" y="1755648"/>
            <a:ext cx="1810512" cy="11887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“Veg biryani for 50” becomes every ingredient with real amounts; skips what you have or already carted.</a:t>
            </a:r>
          </a:p>
        </p:txBody>
      </p:sp>
      <p:sp>
        <p:nvSpPr>
          <p:cNvPr id="96" name="Rounded Rectangle 95"/>
          <p:cNvSpPr/>
          <p:nvPr/>
        </p:nvSpPr>
        <p:spPr>
          <a:xfrm>
            <a:off x="4654296" y="1188720"/>
            <a:ext cx="1993392" cy="1783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Oval 96"/>
          <p:cNvSpPr/>
          <p:nvPr/>
        </p:nvSpPr>
        <p:spPr>
          <a:xfrm>
            <a:off x="4745736" y="1298448"/>
            <a:ext cx="274320" cy="274320"/>
          </a:xfrm>
          <a:prstGeom prst="ellipse">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3</a:t>
            </a:r>
          </a:p>
        </p:txBody>
      </p:sp>
      <p:sp>
        <p:nvSpPr>
          <p:cNvPr id="98" name="TextBox 97"/>
          <p:cNvSpPr txBox="1"/>
          <p:nvPr/>
        </p:nvSpPr>
        <p:spPr>
          <a:xfrm>
            <a:off x="5093208" y="1252728"/>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Indian units</a:t>
            </a:r>
          </a:p>
        </p:txBody>
      </p:sp>
      <p:sp>
        <p:nvSpPr>
          <p:cNvPr id="99" name="TextBox 98"/>
          <p:cNvSpPr txBox="1"/>
          <p:nvPr/>
        </p:nvSpPr>
        <p:spPr>
          <a:xfrm>
            <a:off x="4745736" y="1755648"/>
            <a:ext cx="1810512" cy="11887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“Paav kilo”, “dedh litre”, “do kilo” become exact pack plans from the catalogue.</a:t>
            </a:r>
          </a:p>
        </p:txBody>
      </p:sp>
      <p:sp>
        <p:nvSpPr>
          <p:cNvPr id="100" name="Rounded Rectangle 99"/>
          <p:cNvSpPr/>
          <p:nvPr/>
        </p:nvSpPr>
        <p:spPr>
          <a:xfrm>
            <a:off x="6775703" y="1188720"/>
            <a:ext cx="1993392" cy="1783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Oval 100"/>
          <p:cNvSpPr/>
          <p:nvPr/>
        </p:nvSpPr>
        <p:spPr>
          <a:xfrm>
            <a:off x="6867143" y="1298448"/>
            <a:ext cx="274320" cy="27432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4</a:t>
            </a:r>
          </a:p>
        </p:txBody>
      </p:sp>
      <p:sp>
        <p:nvSpPr>
          <p:cNvPr id="102" name="TextBox 101"/>
          <p:cNvSpPr txBox="1"/>
          <p:nvPr/>
        </p:nvSpPr>
        <p:spPr>
          <a:xfrm>
            <a:off x="7214615" y="1252728"/>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Tap or talk, one cart</a:t>
            </a:r>
          </a:p>
        </p:txBody>
      </p:sp>
      <p:sp>
        <p:nvSpPr>
          <p:cNvPr id="103" name="TextBox 102"/>
          <p:cNvSpPr txBox="1"/>
          <p:nvPr/>
        </p:nvSpPr>
        <p:spPr>
          <a:xfrm>
            <a:off x="6867143" y="1755648"/>
            <a:ext cx="1810512" cy="11887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Browse, search and add by tapping. Voice and taps share one cart, even “cancel my order”.</a:t>
            </a:r>
          </a:p>
        </p:txBody>
      </p:sp>
      <p:sp>
        <p:nvSpPr>
          <p:cNvPr id="104" name="Rounded Rectangle 103"/>
          <p:cNvSpPr/>
          <p:nvPr/>
        </p:nvSpPr>
        <p:spPr>
          <a:xfrm>
            <a:off x="411480" y="3063239"/>
            <a:ext cx="1993392" cy="1783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Oval 104"/>
          <p:cNvSpPr/>
          <p:nvPr/>
        </p:nvSpPr>
        <p:spPr>
          <a:xfrm>
            <a:off x="502920" y="3172968"/>
            <a:ext cx="274320" cy="274320"/>
          </a:xfrm>
          <a:prstGeom prst="ellipse">
            <a:avLst/>
          </a:prstGeom>
          <a:solidFill>
            <a:srgbClr val="8430C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5</a:t>
            </a:r>
          </a:p>
        </p:txBody>
      </p:sp>
      <p:sp>
        <p:nvSpPr>
          <p:cNvPr id="106" name="TextBox 105"/>
          <p:cNvSpPr txBox="1"/>
          <p:nvPr/>
        </p:nvSpPr>
        <p:spPr>
          <a:xfrm>
            <a:off x="850392" y="3127247"/>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Your own pace</a:t>
            </a:r>
          </a:p>
        </p:txBody>
      </p:sp>
      <p:sp>
        <p:nvSpPr>
          <p:cNvPr id="107" name="TextBox 106"/>
          <p:cNvSpPr txBox="1"/>
          <p:nvPr/>
        </p:nvSpPr>
        <p:spPr>
          <a:xfrm>
            <a:off x="502920" y="3630168"/>
            <a:ext cx="1810512" cy="11887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Step by step by default, quick for shoppers in a hurry. Change it by voice any time.</a:t>
            </a:r>
          </a:p>
        </p:txBody>
      </p:sp>
      <p:sp>
        <p:nvSpPr>
          <p:cNvPr id="108" name="Rounded Rectangle 107"/>
          <p:cNvSpPr/>
          <p:nvPr/>
        </p:nvSpPr>
        <p:spPr>
          <a:xfrm>
            <a:off x="2532888" y="3063239"/>
            <a:ext cx="1993392" cy="1783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Oval 108"/>
          <p:cNvSpPr/>
          <p:nvPr/>
        </p:nvSpPr>
        <p:spPr>
          <a:xfrm>
            <a:off x="2624328" y="317296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6</a:t>
            </a:r>
          </a:p>
        </p:txBody>
      </p:sp>
      <p:sp>
        <p:nvSpPr>
          <p:cNvPr id="110" name="TextBox 109"/>
          <p:cNvSpPr txBox="1"/>
          <p:nvPr/>
        </p:nvSpPr>
        <p:spPr>
          <a:xfrm>
            <a:off x="2971800" y="3127247"/>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Shows what you show</a:t>
            </a:r>
          </a:p>
        </p:txBody>
      </p:sp>
      <p:sp>
        <p:nvSpPr>
          <p:cNvPr id="111" name="TextBox 110"/>
          <p:cNvSpPr txBox="1"/>
          <p:nvPr/>
        </p:nvSpPr>
        <p:spPr>
          <a:xfrm>
            <a:off x="2624328" y="3630168"/>
            <a:ext cx="1810512" cy="11887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Hold up an empty packet: it names the product and asks before adding it.</a:t>
            </a:r>
          </a:p>
        </p:txBody>
      </p:sp>
      <p:sp>
        <p:nvSpPr>
          <p:cNvPr id="112" name="Rounded Rectangle 111"/>
          <p:cNvSpPr/>
          <p:nvPr/>
        </p:nvSpPr>
        <p:spPr>
          <a:xfrm>
            <a:off x="4654296" y="3063239"/>
            <a:ext cx="1993392" cy="1783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Oval 112"/>
          <p:cNvSpPr/>
          <p:nvPr/>
        </p:nvSpPr>
        <p:spPr>
          <a:xfrm>
            <a:off x="4745736" y="3172968"/>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7</a:t>
            </a:r>
          </a:p>
        </p:txBody>
      </p:sp>
      <p:sp>
        <p:nvSpPr>
          <p:cNvPr id="114" name="TextBox 113"/>
          <p:cNvSpPr txBox="1"/>
          <p:nvPr/>
        </p:nvSpPr>
        <p:spPr>
          <a:xfrm>
            <a:off x="5093208" y="3127247"/>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Checkout by fingerprint</a:t>
            </a:r>
          </a:p>
        </p:txBody>
      </p:sp>
      <p:sp>
        <p:nvSpPr>
          <p:cNvPr id="115" name="TextBox 114"/>
          <p:cNvSpPr txBox="1"/>
          <p:nvPr/>
        </p:nvSpPr>
        <p:spPr>
          <a:xfrm>
            <a:off x="4745736" y="3630168"/>
            <a:ext cx="1810512" cy="11887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Address and slot, a spoken read-back of items, total and delivery, then one fingerprint.</a:t>
            </a:r>
          </a:p>
        </p:txBody>
      </p:sp>
      <p:sp>
        <p:nvSpPr>
          <p:cNvPr id="116" name="Rounded Rectangle 115"/>
          <p:cNvSpPr/>
          <p:nvPr/>
        </p:nvSpPr>
        <p:spPr>
          <a:xfrm>
            <a:off x="6775703" y="3063239"/>
            <a:ext cx="1993392" cy="178308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Oval 116"/>
          <p:cNvSpPr/>
          <p:nvPr/>
        </p:nvSpPr>
        <p:spPr>
          <a:xfrm>
            <a:off x="6867143" y="3172968"/>
            <a:ext cx="274320" cy="27432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8</a:t>
            </a:r>
          </a:p>
        </p:txBody>
      </p:sp>
      <p:sp>
        <p:nvSpPr>
          <p:cNvPr id="118" name="TextBox 117"/>
          <p:cNvSpPr txBox="1"/>
          <p:nvPr/>
        </p:nvSpPr>
        <p:spPr>
          <a:xfrm>
            <a:off x="7214615" y="3127247"/>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Safe and private</a:t>
            </a:r>
          </a:p>
        </p:txBody>
      </p:sp>
      <p:sp>
        <p:nvSpPr>
          <p:cNvPr id="119" name="TextBox 118"/>
          <p:cNvSpPr txBox="1"/>
          <p:nvPr/>
        </p:nvSpPr>
        <p:spPr>
          <a:xfrm>
            <a:off x="6867143" y="3630168"/>
            <a:ext cx="1810512" cy="11887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No OTP or PIN asked, no health claims, family told only with consent, no audio or video stored.</a:t>
            </a: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pic>
        <p:nvPicPr>
          <p:cNvPr id="92" name="Google Shape;92;p1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93" name="Google Shape;93;p18"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94" name="Google Shape;94;p18"/>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 name="Google Shape;95;p18"/>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Process flow diagram or Use-case diagram</a:t>
            </a:r>
            <a:endParaRPr sz="1600">
              <a:latin typeface="Google Sans Flex Medium"/>
              <a:ea typeface="Google Sans Flex Medium"/>
              <a:cs typeface="Google Sans Flex Medium"/>
              <a:sym typeface="Google Sans Flex Medium"/>
            </a:endParaRPr>
          </a:p>
        </p:txBody>
      </p:sp>
      <p:sp>
        <p:nvSpPr>
          <p:cNvPr id="96" name="Rounded Rectangle 95"/>
          <p:cNvSpPr/>
          <p:nvPr/>
        </p:nvSpPr>
        <p:spPr>
          <a:xfrm>
            <a:off x="411480" y="1170432"/>
            <a:ext cx="1965960" cy="274320"/>
          </a:xfrm>
          <a:prstGeom prst="roundRect">
            <a:avLst>
              <a:gd name="adj" fmla="val 30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extBox 96"/>
          <p:cNvSpPr txBox="1"/>
          <p:nvPr/>
        </p:nvSpPr>
        <p:spPr>
          <a:xfrm>
            <a:off x="411480" y="1170432"/>
            <a:ext cx="1965960" cy="274320"/>
          </a:xfrm>
          <a:prstGeom prst="rect">
            <a:avLst/>
          </a:prstGeom>
          <a:noFill/>
        </p:spPr>
        <p:txBody>
          <a:bodyPr wrap="square" lIns="36576" rIns="36576" tIns="36576" bIns="36576" anchor="ctr">
            <a:spAutoFit/>
          </a:bodyPr>
          <a:lstStyle/>
          <a:p>
            <a:pPr algn="ctr">
              <a:spcAft>
                <a:spcPts val="300"/>
              </a:spcAft>
            </a:pPr>
            <a:r>
              <a:rPr sz="1050" b="1" i="0">
                <a:solidFill>
                  <a:srgbClr val="1A73E8"/>
                </a:solidFill>
                <a:latin typeface="Google Sans Flex"/>
                <a:ea typeface="Google Sans Flex"/>
                <a:cs typeface="Google Sans Flex"/>
              </a:rPr>
              <a:t>Shopper's phone</a:t>
            </a:r>
          </a:p>
        </p:txBody>
      </p:sp>
      <p:sp>
        <p:nvSpPr>
          <p:cNvPr id="98" name="Rounded Rectangle 97"/>
          <p:cNvSpPr/>
          <p:nvPr/>
        </p:nvSpPr>
        <p:spPr>
          <a:xfrm>
            <a:off x="2532888" y="1170432"/>
            <a:ext cx="1965960" cy="274320"/>
          </a:xfrm>
          <a:prstGeom prst="roundRect">
            <a:avLst>
              <a:gd name="adj" fmla="val 30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extBox 98"/>
          <p:cNvSpPr txBox="1"/>
          <p:nvPr/>
        </p:nvSpPr>
        <p:spPr>
          <a:xfrm>
            <a:off x="2532888" y="1170432"/>
            <a:ext cx="1965960" cy="274320"/>
          </a:xfrm>
          <a:prstGeom prst="rect">
            <a:avLst/>
          </a:prstGeom>
          <a:noFill/>
        </p:spPr>
        <p:txBody>
          <a:bodyPr wrap="square" lIns="36576" rIns="36576" tIns="36576" bIns="36576" anchor="ctr">
            <a:spAutoFit/>
          </a:bodyPr>
          <a:lstStyle/>
          <a:p>
            <a:pPr algn="ctr">
              <a:spcAft>
                <a:spcPts val="300"/>
              </a:spcAft>
            </a:pPr>
            <a:r>
              <a:rPr sz="1050" b="1" i="0">
                <a:solidFill>
                  <a:srgbClr val="188038"/>
                </a:solidFill>
                <a:latin typeface="Google Sans Flex"/>
                <a:ea typeface="Google Sans Flex"/>
                <a:cs typeface="Google Sans Flex"/>
              </a:rPr>
              <a:t>Session server</a:t>
            </a:r>
          </a:p>
        </p:txBody>
      </p:sp>
      <p:sp>
        <p:nvSpPr>
          <p:cNvPr id="100" name="Rounded Rectangle 99"/>
          <p:cNvSpPr/>
          <p:nvPr/>
        </p:nvSpPr>
        <p:spPr>
          <a:xfrm>
            <a:off x="4654296" y="1170432"/>
            <a:ext cx="1965960" cy="274320"/>
          </a:xfrm>
          <a:prstGeom prst="roundRect">
            <a:avLst>
              <a:gd name="adj" fmla="val 30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extBox 100"/>
          <p:cNvSpPr txBox="1"/>
          <p:nvPr/>
        </p:nvSpPr>
        <p:spPr>
          <a:xfrm>
            <a:off x="4654296" y="1170432"/>
            <a:ext cx="1965960" cy="274320"/>
          </a:xfrm>
          <a:prstGeom prst="rect">
            <a:avLst/>
          </a:prstGeom>
          <a:noFill/>
        </p:spPr>
        <p:txBody>
          <a:bodyPr wrap="square" lIns="36576" rIns="36576" tIns="36576" bIns="36576" anchor="ctr">
            <a:spAutoFit/>
          </a:bodyPr>
          <a:lstStyle/>
          <a:p>
            <a:pPr algn="ctr">
              <a:spcAft>
                <a:spcPts val="300"/>
              </a:spcAft>
            </a:pPr>
            <a:r>
              <a:rPr sz="1050" b="1" i="0">
                <a:solidFill>
                  <a:srgbClr val="B06000"/>
                </a:solidFill>
                <a:latin typeface="Google Sans Flex"/>
                <a:ea typeface="Google Sans Flex"/>
                <a:cs typeface="Google Sans Flex"/>
              </a:rPr>
              <a:t>Gemini Live</a:t>
            </a:r>
          </a:p>
        </p:txBody>
      </p:sp>
      <p:sp>
        <p:nvSpPr>
          <p:cNvPr id="102" name="Rounded Rectangle 101"/>
          <p:cNvSpPr/>
          <p:nvPr/>
        </p:nvSpPr>
        <p:spPr>
          <a:xfrm>
            <a:off x="6775704" y="1170432"/>
            <a:ext cx="1965960" cy="274320"/>
          </a:xfrm>
          <a:prstGeom prst="roundRect">
            <a:avLst>
              <a:gd name="adj" fmla="val 30000"/>
            </a:avLst>
          </a:prstGeom>
          <a:solidFill>
            <a:srgbClr val="F3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extBox 102"/>
          <p:cNvSpPr txBox="1"/>
          <p:nvPr/>
        </p:nvSpPr>
        <p:spPr>
          <a:xfrm>
            <a:off x="6775704" y="1170432"/>
            <a:ext cx="1965960" cy="274320"/>
          </a:xfrm>
          <a:prstGeom prst="rect">
            <a:avLst/>
          </a:prstGeom>
          <a:noFill/>
        </p:spPr>
        <p:txBody>
          <a:bodyPr wrap="square" lIns="36576" rIns="36576" tIns="36576" bIns="36576" anchor="ctr">
            <a:spAutoFit/>
          </a:bodyPr>
          <a:lstStyle/>
          <a:p>
            <a:pPr algn="ctr">
              <a:spcAft>
                <a:spcPts val="300"/>
              </a:spcAft>
            </a:pPr>
            <a:r>
              <a:rPr sz="1050" b="1" i="0">
                <a:solidFill>
                  <a:srgbClr val="8430CE"/>
                </a:solidFill>
                <a:latin typeface="Google Sans Flex"/>
                <a:ea typeface="Google Sans Flex"/>
                <a:cs typeface="Google Sans Flex"/>
              </a:rPr>
              <a:t>Demo store</a:t>
            </a:r>
          </a:p>
        </p:txBody>
      </p:sp>
      <p:sp>
        <p:nvSpPr>
          <p:cNvPr id="104" name="Rounded Rectangle 103"/>
          <p:cNvSpPr/>
          <p:nvPr/>
        </p:nvSpPr>
        <p:spPr>
          <a:xfrm>
            <a:off x="411480" y="1645920"/>
            <a:ext cx="1463040" cy="105156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Oval 104"/>
          <p:cNvSpPr/>
          <p:nvPr/>
        </p:nvSpPr>
        <p:spPr>
          <a:xfrm>
            <a:off x="502920" y="1737360"/>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1</a:t>
            </a:r>
          </a:p>
        </p:txBody>
      </p:sp>
      <p:sp>
        <p:nvSpPr>
          <p:cNvPr id="106" name="TextBox 105"/>
          <p:cNvSpPr txBox="1"/>
          <p:nvPr/>
        </p:nvSpPr>
        <p:spPr>
          <a:xfrm>
            <a:off x="484632" y="210312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Shopper speaks or taps</a:t>
            </a:r>
          </a:p>
        </p:txBody>
      </p:sp>
      <p:sp>
        <p:nvSpPr>
          <p:cNvPr id="107" name="Rounded Rectangle 106"/>
          <p:cNvSpPr/>
          <p:nvPr/>
        </p:nvSpPr>
        <p:spPr>
          <a:xfrm>
            <a:off x="2125980" y="1645920"/>
            <a:ext cx="1463040" cy="105156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8" name="Oval 107"/>
          <p:cNvSpPr/>
          <p:nvPr/>
        </p:nvSpPr>
        <p:spPr>
          <a:xfrm>
            <a:off x="2217420" y="1737360"/>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2</a:t>
            </a:r>
          </a:p>
        </p:txBody>
      </p:sp>
      <p:sp>
        <p:nvSpPr>
          <p:cNvPr id="109" name="TextBox 108"/>
          <p:cNvSpPr txBox="1"/>
          <p:nvPr/>
        </p:nvSpPr>
        <p:spPr>
          <a:xfrm>
            <a:off x="2199132" y="210312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Relays audio to Gemini Live</a:t>
            </a:r>
          </a:p>
        </p:txBody>
      </p:sp>
      <p:sp>
        <p:nvSpPr>
          <p:cNvPr id="110" name="Rounded Rectangle 109"/>
          <p:cNvSpPr/>
          <p:nvPr/>
        </p:nvSpPr>
        <p:spPr>
          <a:xfrm>
            <a:off x="3840480" y="1645920"/>
            <a:ext cx="1463040" cy="105156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Oval 110"/>
          <p:cNvSpPr/>
          <p:nvPr/>
        </p:nvSpPr>
        <p:spPr>
          <a:xfrm>
            <a:off x="3931920" y="1737360"/>
            <a:ext cx="274320" cy="274320"/>
          </a:xfrm>
          <a:prstGeom prst="ellipse">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3</a:t>
            </a:r>
          </a:p>
        </p:txBody>
      </p:sp>
      <p:sp>
        <p:nvSpPr>
          <p:cNvPr id="112" name="TextBox 111"/>
          <p:cNvSpPr txBox="1"/>
          <p:nvPr/>
        </p:nvSpPr>
        <p:spPr>
          <a:xfrm>
            <a:off x="3913632" y="210312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Understands and picks a tool</a:t>
            </a:r>
          </a:p>
        </p:txBody>
      </p:sp>
      <p:sp>
        <p:nvSpPr>
          <p:cNvPr id="113" name="Rounded Rectangle 112"/>
          <p:cNvSpPr/>
          <p:nvPr/>
        </p:nvSpPr>
        <p:spPr>
          <a:xfrm>
            <a:off x="5554980" y="1645920"/>
            <a:ext cx="1463040" cy="105156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4" name="Oval 113"/>
          <p:cNvSpPr/>
          <p:nvPr/>
        </p:nvSpPr>
        <p:spPr>
          <a:xfrm>
            <a:off x="5646420" y="1737360"/>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4</a:t>
            </a:r>
          </a:p>
        </p:txBody>
      </p:sp>
      <p:sp>
        <p:nvSpPr>
          <p:cNvPr id="115" name="TextBox 114"/>
          <p:cNvSpPr txBox="1"/>
          <p:nvPr/>
        </p:nvSpPr>
        <p:spPr>
          <a:xfrm>
            <a:off x="5628132" y="210312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Checks the call, asks the store</a:t>
            </a:r>
          </a:p>
        </p:txBody>
      </p:sp>
      <p:sp>
        <p:nvSpPr>
          <p:cNvPr id="116" name="Rounded Rectangle 115"/>
          <p:cNvSpPr/>
          <p:nvPr/>
        </p:nvSpPr>
        <p:spPr>
          <a:xfrm>
            <a:off x="7269480" y="1645920"/>
            <a:ext cx="1463040" cy="1051560"/>
          </a:xfrm>
          <a:prstGeom prst="roundRect">
            <a:avLst>
              <a:gd name="adj" fmla="val 6000"/>
            </a:avLst>
          </a:prstGeom>
          <a:solidFill>
            <a:srgbClr val="F3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Oval 116"/>
          <p:cNvSpPr/>
          <p:nvPr/>
        </p:nvSpPr>
        <p:spPr>
          <a:xfrm>
            <a:off x="7360920" y="1737360"/>
            <a:ext cx="274320" cy="274320"/>
          </a:xfrm>
          <a:prstGeom prst="ellipse">
            <a:avLst/>
          </a:prstGeom>
          <a:solidFill>
            <a:srgbClr val="8430C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5</a:t>
            </a:r>
          </a:p>
        </p:txBody>
      </p:sp>
      <p:sp>
        <p:nvSpPr>
          <p:cNvPr id="118" name="TextBox 117"/>
          <p:cNvSpPr txBox="1"/>
          <p:nvPr/>
        </p:nvSpPr>
        <p:spPr>
          <a:xfrm>
            <a:off x="7342631" y="210312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Search, cart, checkout (UCP)</a:t>
            </a:r>
          </a:p>
        </p:txBody>
      </p:sp>
      <p:sp>
        <p:nvSpPr>
          <p:cNvPr id="119" name="Rounded Rectangle 118"/>
          <p:cNvSpPr/>
          <p:nvPr/>
        </p:nvSpPr>
        <p:spPr>
          <a:xfrm>
            <a:off x="7269480" y="3154680"/>
            <a:ext cx="1463040" cy="105156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0" name="Oval 119"/>
          <p:cNvSpPr/>
          <p:nvPr/>
        </p:nvSpPr>
        <p:spPr>
          <a:xfrm>
            <a:off x="7360920" y="3246120"/>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6</a:t>
            </a:r>
          </a:p>
        </p:txBody>
      </p:sp>
      <p:sp>
        <p:nvSpPr>
          <p:cNvPr id="121" name="TextBox 120"/>
          <p:cNvSpPr txBox="1"/>
          <p:nvPr/>
        </p:nvSpPr>
        <p:spPr>
          <a:xfrm>
            <a:off x="7342631" y="361188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Pushes cart and cards to the app</a:t>
            </a:r>
          </a:p>
        </p:txBody>
      </p:sp>
      <p:sp>
        <p:nvSpPr>
          <p:cNvPr id="122" name="Rounded Rectangle 121"/>
          <p:cNvSpPr/>
          <p:nvPr/>
        </p:nvSpPr>
        <p:spPr>
          <a:xfrm>
            <a:off x="5554980" y="3154680"/>
            <a:ext cx="1463040" cy="105156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Oval 122"/>
          <p:cNvSpPr/>
          <p:nvPr/>
        </p:nvSpPr>
        <p:spPr>
          <a:xfrm>
            <a:off x="5646420" y="3246120"/>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7</a:t>
            </a:r>
          </a:p>
        </p:txBody>
      </p:sp>
      <p:sp>
        <p:nvSpPr>
          <p:cNvPr id="124" name="TextBox 123"/>
          <p:cNvSpPr txBox="1"/>
          <p:nvPr/>
        </p:nvSpPr>
        <p:spPr>
          <a:xfrm>
            <a:off x="5628132" y="361188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Confirms cart; fingerprint pays</a:t>
            </a:r>
          </a:p>
        </p:txBody>
      </p:sp>
      <p:sp>
        <p:nvSpPr>
          <p:cNvPr id="125" name="Rounded Rectangle 124"/>
          <p:cNvSpPr/>
          <p:nvPr/>
        </p:nvSpPr>
        <p:spPr>
          <a:xfrm>
            <a:off x="3840480" y="3154680"/>
            <a:ext cx="1463040" cy="1051560"/>
          </a:xfrm>
          <a:prstGeom prst="roundRect">
            <a:avLst>
              <a:gd name="adj" fmla="val 6000"/>
            </a:avLst>
          </a:prstGeom>
          <a:solidFill>
            <a:srgbClr val="F3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6" name="Oval 125"/>
          <p:cNvSpPr/>
          <p:nvPr/>
        </p:nvSpPr>
        <p:spPr>
          <a:xfrm>
            <a:off x="3931920" y="3246120"/>
            <a:ext cx="274320" cy="274320"/>
          </a:xfrm>
          <a:prstGeom prst="ellipse">
            <a:avLst/>
          </a:prstGeom>
          <a:solidFill>
            <a:srgbClr val="8430C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8</a:t>
            </a:r>
          </a:p>
        </p:txBody>
      </p:sp>
      <p:sp>
        <p:nvSpPr>
          <p:cNvPr id="127" name="TextBox 126"/>
          <p:cNvSpPr txBox="1"/>
          <p:nvPr/>
        </p:nvSpPr>
        <p:spPr>
          <a:xfrm>
            <a:off x="3913632" y="361188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Verifies and places the order</a:t>
            </a:r>
          </a:p>
        </p:txBody>
      </p:sp>
      <p:sp>
        <p:nvSpPr>
          <p:cNvPr id="128" name="Rounded Rectangle 127"/>
          <p:cNvSpPr/>
          <p:nvPr/>
        </p:nvSpPr>
        <p:spPr>
          <a:xfrm>
            <a:off x="2125980" y="3154680"/>
            <a:ext cx="1463040" cy="105156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Oval 128"/>
          <p:cNvSpPr/>
          <p:nvPr/>
        </p:nvSpPr>
        <p:spPr>
          <a:xfrm>
            <a:off x="2217420" y="3246120"/>
            <a:ext cx="274320" cy="274320"/>
          </a:xfrm>
          <a:prstGeom prst="ellipse">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9</a:t>
            </a:r>
          </a:p>
        </p:txBody>
      </p:sp>
      <p:sp>
        <p:nvSpPr>
          <p:cNvPr id="130" name="TextBox 129"/>
          <p:cNvSpPr txBox="1"/>
          <p:nvPr/>
        </p:nvSpPr>
        <p:spPr>
          <a:xfrm>
            <a:off x="2199132" y="3611880"/>
            <a:ext cx="1316736" cy="566928"/>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Shopkeeper announces the order</a:t>
            </a:r>
          </a:p>
        </p:txBody>
      </p:sp>
      <p:sp>
        <p:nvSpPr>
          <p:cNvPr id="131" name="Right Arrow 130"/>
          <p:cNvSpPr/>
          <p:nvPr/>
        </p:nvSpPr>
        <p:spPr>
          <a:xfrm>
            <a:off x="1911096" y="2080260"/>
            <a:ext cx="173736" cy="18288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Right Arrow 131"/>
          <p:cNvSpPr/>
          <p:nvPr/>
        </p:nvSpPr>
        <p:spPr>
          <a:xfrm>
            <a:off x="3625596" y="2080260"/>
            <a:ext cx="173736" cy="18288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ight Arrow 132"/>
          <p:cNvSpPr/>
          <p:nvPr/>
        </p:nvSpPr>
        <p:spPr>
          <a:xfrm>
            <a:off x="5340096" y="2080260"/>
            <a:ext cx="173736" cy="18288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ight Arrow 133"/>
          <p:cNvSpPr/>
          <p:nvPr/>
        </p:nvSpPr>
        <p:spPr>
          <a:xfrm>
            <a:off x="7054596" y="2080260"/>
            <a:ext cx="173736" cy="182880"/>
          </a:xfrm>
          <a:prstGeom prst="righ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Down Arrow 134"/>
          <p:cNvSpPr/>
          <p:nvPr/>
        </p:nvSpPr>
        <p:spPr>
          <a:xfrm>
            <a:off x="7909560" y="2788920"/>
            <a:ext cx="182880" cy="347472"/>
          </a:xfrm>
          <a:prstGeom prst="down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Left Arrow 135"/>
          <p:cNvSpPr/>
          <p:nvPr/>
        </p:nvSpPr>
        <p:spPr>
          <a:xfrm>
            <a:off x="7054596" y="3589020"/>
            <a:ext cx="173736" cy="182880"/>
          </a:xfrm>
          <a:prstGeom prst="lef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Left Arrow 136"/>
          <p:cNvSpPr/>
          <p:nvPr/>
        </p:nvSpPr>
        <p:spPr>
          <a:xfrm>
            <a:off x="5340096" y="3589020"/>
            <a:ext cx="173736" cy="182880"/>
          </a:xfrm>
          <a:prstGeom prst="lef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Left Arrow 137"/>
          <p:cNvSpPr/>
          <p:nvPr/>
        </p:nvSpPr>
        <p:spPr>
          <a:xfrm>
            <a:off x="3625596" y="3589020"/>
            <a:ext cx="173736" cy="182880"/>
          </a:xfrm>
          <a:prstGeom prst="leftArrow">
            <a:avLst/>
          </a:prstGeom>
          <a:solidFill>
            <a:srgbClr val="5F636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Rounded Rectangle 138"/>
          <p:cNvSpPr/>
          <p:nvPr/>
        </p:nvSpPr>
        <p:spPr>
          <a:xfrm>
            <a:off x="411480" y="3154680"/>
            <a:ext cx="1463040" cy="105156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0" name="TextBox 139"/>
          <p:cNvSpPr txBox="1"/>
          <p:nvPr/>
        </p:nvSpPr>
        <p:spPr>
          <a:xfrm>
            <a:off x="457200" y="3172968"/>
            <a:ext cx="1371600" cy="1014983"/>
          </a:xfrm>
          <a:prstGeom prst="rect">
            <a:avLst/>
          </a:prstGeom>
          <a:noFill/>
        </p:spPr>
        <p:txBody>
          <a:bodyPr wrap="square" lIns="36576" rIns="36576" tIns="36576" bIns="36576" anchor="t">
            <a:spAutoFit/>
          </a:bodyPr>
          <a:lstStyle/>
          <a:p>
            <a:pPr algn="l">
              <a:spcAft>
                <a:spcPts val="100"/>
              </a:spcAft>
            </a:pPr>
            <a:r>
              <a:rPr sz="1000" b="1" i="0">
                <a:solidFill>
                  <a:srgbClr val="202124"/>
                </a:solidFill>
                <a:latin typeface="Google Sans Flex"/>
                <a:ea typeface="Google Sans Flex"/>
                <a:cs typeface="Google Sans Flex"/>
              </a:rPr>
              <a:t>Use cases</a:t>
            </a:r>
          </a:p>
          <a:p>
            <a:pPr algn="l">
              <a:spcAft>
                <a:spcPts val="100"/>
              </a:spcAft>
            </a:pPr>
            <a:r>
              <a:rPr sz="1000" b="0" i="0">
                <a:solidFill>
                  <a:srgbClr val="202124"/>
                </a:solidFill>
                <a:latin typeface="Google Sans Flex"/>
                <a:ea typeface="Google Sans Flex"/>
                <a:cs typeface="Google Sans Flex"/>
              </a:rPr>
              <a:t>Spoken list</a:t>
            </a:r>
          </a:p>
          <a:p>
            <a:pPr algn="l">
              <a:spcAft>
                <a:spcPts val="100"/>
              </a:spcAft>
            </a:pPr>
            <a:r>
              <a:rPr sz="1000" b="0" i="0">
                <a:solidFill>
                  <a:srgbClr val="202124"/>
                </a:solidFill>
                <a:latin typeface="Google Sans Flex"/>
                <a:ea typeface="Google Sans Flex"/>
                <a:cs typeface="Google Sans Flex"/>
              </a:rPr>
              <a:t>Goal to list</a:t>
            </a:r>
          </a:p>
          <a:p>
            <a:pPr algn="l">
              <a:spcAft>
                <a:spcPts val="100"/>
              </a:spcAft>
            </a:pPr>
            <a:r>
              <a:rPr sz="1000" b="0" i="0">
                <a:solidFill>
                  <a:srgbClr val="202124"/>
                </a:solidFill>
                <a:latin typeface="Google Sans Flex"/>
                <a:ea typeface="Google Sans Flex"/>
                <a:cs typeface="Google Sans Flex"/>
              </a:rPr>
              <a:t>Tap and talk cart</a:t>
            </a:r>
          </a:p>
          <a:p>
            <a:pPr algn="l">
              <a:spcAft>
                <a:spcPts val="100"/>
              </a:spcAft>
            </a:pPr>
            <a:r>
              <a:rPr sz="1000" b="0" i="0">
                <a:solidFill>
                  <a:srgbClr val="202124"/>
                </a:solidFill>
                <a:latin typeface="Google Sans Flex"/>
                <a:ea typeface="Google Sans Flex"/>
                <a:cs typeface="Google Sans Flex"/>
              </a:rPr>
              <a:t>Checkout</a:t>
            </a:r>
          </a:p>
          <a:p>
            <a:pPr algn="l">
              <a:spcAft>
                <a:spcPts val="100"/>
              </a:spcAft>
            </a:pPr>
            <a:r>
              <a:rPr sz="1000" b="0" i="0">
                <a:solidFill>
                  <a:srgbClr val="202124"/>
                </a:solidFill>
                <a:latin typeface="Google Sans Flex"/>
                <a:ea typeface="Google Sans Flex"/>
                <a:cs typeface="Google Sans Flex"/>
              </a:rPr>
              <a:t>“Cancel my order”</a:t>
            </a:r>
          </a:p>
        </p:txBody>
      </p:sp>
      <p:sp>
        <p:nvSpPr>
          <p:cNvPr id="141" name="Rounded Rectangle 140"/>
          <p:cNvSpPr/>
          <p:nvPr/>
        </p:nvSpPr>
        <p:spPr>
          <a:xfrm>
            <a:off x="411480" y="4389120"/>
            <a:ext cx="8321040" cy="457200"/>
          </a:xfrm>
          <a:prstGeom prst="roundRect">
            <a:avLst>
              <a:gd name="adj" fmla="val 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2" name="TextBox 141"/>
          <p:cNvSpPr txBox="1"/>
          <p:nvPr/>
        </p:nvSpPr>
        <p:spPr>
          <a:xfrm>
            <a:off x="502920" y="4389120"/>
            <a:ext cx="8138160" cy="457200"/>
          </a:xfrm>
          <a:prstGeom prst="rect">
            <a:avLst/>
          </a:prstGeom>
          <a:noFill/>
        </p:spPr>
        <p:txBody>
          <a:bodyPr wrap="square" lIns="36576" rIns="36576" tIns="36576" bIns="36576" anchor="ctr">
            <a:spAutoFit/>
          </a:bodyPr>
          <a:lstStyle/>
          <a:p>
            <a:pPr algn="l">
              <a:spcAft>
                <a:spcPts val="300"/>
              </a:spcAft>
            </a:pPr>
            <a:r>
              <a:rPr sz="1100" b="1" i="0">
                <a:solidFill>
                  <a:srgbClr val="C5221F"/>
                </a:solidFill>
                <a:latin typeface="Google Sans Flex"/>
                <a:ea typeface="Google Sans Flex"/>
                <a:cs typeface="Google Sans Flex"/>
              </a:rPr>
              <a:t>Payment rule: </a:t>
            </a:r>
            <a:r>
              <a:rPr sz="1100" b="0" i="0">
                <a:solidFill>
                  <a:srgbClr val="202124"/>
                </a:solidFill>
                <a:latin typeface="Google Sans Flex"/>
                <a:ea typeface="Google Sans Flex"/>
                <a:cs typeface="Google Sans Flex"/>
              </a:rPr>
              <a:t>the fingerprint is checked in the browser and goes straight to the store, never through voice.</a:t>
            </a: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9"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1" name="Google Shape;101;p19"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02" name="Google Shape;102;p19"/>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 name="Google Shape;103;p19"/>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Wireframes/Mock diagrams of the proposed solution (optional)</a:t>
            </a:r>
            <a:endParaRPr sz="1600">
              <a:latin typeface="Google Sans Flex Medium"/>
              <a:ea typeface="Google Sans Flex Medium"/>
              <a:cs typeface="Google Sans Flex Medium"/>
              <a:sym typeface="Google Sans Flex Medium"/>
            </a:endParaRPr>
          </a:p>
        </p:txBody>
      </p:sp>
      <p:pic>
        <p:nvPicPr>
          <p:cNvPr id="104" name="Picture 103" descr="p4_3_375x698.png"/>
          <p:cNvPicPr>
            <a:picLocks noChangeAspect="1"/>
          </p:cNvPicPr>
          <p:nvPr/>
        </p:nvPicPr>
        <p:blipFill>
          <a:blip r:embed="rId5"/>
          <a:stretch>
            <a:fillRect/>
          </a:stretch>
        </p:blipFill>
        <p:spPr>
          <a:xfrm>
            <a:off x="411480" y="1188720"/>
            <a:ext cx="1915917" cy="3566160"/>
          </a:xfrm>
          <a:prstGeom prst="rect">
            <a:avLst/>
          </a:prstGeom>
        </p:spPr>
      </p:pic>
      <p:sp>
        <p:nvSpPr>
          <p:cNvPr id="105" name="Oval 104"/>
          <p:cNvSpPr/>
          <p:nvPr/>
        </p:nvSpPr>
        <p:spPr>
          <a:xfrm>
            <a:off x="464058" y="2256282"/>
            <a:ext cx="182880" cy="18288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1</a:t>
            </a:r>
          </a:p>
        </p:txBody>
      </p:sp>
      <p:sp>
        <p:nvSpPr>
          <p:cNvPr id="106" name="Oval 105"/>
          <p:cNvSpPr/>
          <p:nvPr/>
        </p:nvSpPr>
        <p:spPr>
          <a:xfrm>
            <a:off x="1395374" y="2363266"/>
            <a:ext cx="182880" cy="18288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2</a:t>
            </a:r>
          </a:p>
        </p:txBody>
      </p:sp>
      <p:sp>
        <p:nvSpPr>
          <p:cNvPr id="107" name="Oval 106"/>
          <p:cNvSpPr/>
          <p:nvPr/>
        </p:nvSpPr>
        <p:spPr>
          <a:xfrm>
            <a:off x="2153869" y="2256282"/>
            <a:ext cx="182880" cy="18288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3</a:t>
            </a:r>
          </a:p>
        </p:txBody>
      </p:sp>
      <p:sp>
        <p:nvSpPr>
          <p:cNvPr id="108" name="Oval 107"/>
          <p:cNvSpPr/>
          <p:nvPr/>
        </p:nvSpPr>
        <p:spPr>
          <a:xfrm>
            <a:off x="425653" y="2737713"/>
            <a:ext cx="182880" cy="18288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4</a:t>
            </a:r>
          </a:p>
        </p:txBody>
      </p:sp>
      <p:sp>
        <p:nvSpPr>
          <p:cNvPr id="109" name="Oval 108"/>
          <p:cNvSpPr/>
          <p:nvPr/>
        </p:nvSpPr>
        <p:spPr>
          <a:xfrm>
            <a:off x="2163470" y="2951683"/>
            <a:ext cx="182880" cy="18288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5</a:t>
            </a:r>
          </a:p>
        </p:txBody>
      </p:sp>
      <p:sp>
        <p:nvSpPr>
          <p:cNvPr id="110" name="Oval 109"/>
          <p:cNvSpPr/>
          <p:nvPr/>
        </p:nvSpPr>
        <p:spPr>
          <a:xfrm>
            <a:off x="2153869" y="3754069"/>
            <a:ext cx="182880" cy="18288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6</a:t>
            </a:r>
          </a:p>
        </p:txBody>
      </p:sp>
      <p:sp>
        <p:nvSpPr>
          <p:cNvPr id="111" name="Oval 110"/>
          <p:cNvSpPr/>
          <p:nvPr/>
        </p:nvSpPr>
        <p:spPr>
          <a:xfrm>
            <a:off x="425653" y="3950208"/>
            <a:ext cx="182880" cy="18288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7</a:t>
            </a:r>
          </a:p>
        </p:txBody>
      </p:sp>
      <p:sp>
        <p:nvSpPr>
          <p:cNvPr id="112" name="Oval 111"/>
          <p:cNvSpPr/>
          <p:nvPr/>
        </p:nvSpPr>
        <p:spPr>
          <a:xfrm>
            <a:off x="425653" y="4360316"/>
            <a:ext cx="182880" cy="18288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8</a:t>
            </a:r>
          </a:p>
        </p:txBody>
      </p:sp>
      <p:sp>
        <p:nvSpPr>
          <p:cNvPr id="113" name="Oval 112"/>
          <p:cNvSpPr/>
          <p:nvPr/>
        </p:nvSpPr>
        <p:spPr>
          <a:xfrm>
            <a:off x="2606040" y="1271016"/>
            <a:ext cx="237744" cy="237744"/>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1</a:t>
            </a:r>
          </a:p>
        </p:txBody>
      </p:sp>
      <p:sp>
        <p:nvSpPr>
          <p:cNvPr id="114" name="TextBox 113"/>
          <p:cNvSpPr txBox="1"/>
          <p:nvPr/>
        </p:nvSpPr>
        <p:spPr>
          <a:xfrm>
            <a:off x="2926080" y="1234440"/>
            <a:ext cx="2697480" cy="310896"/>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“AI assistant” label always visible</a:t>
            </a:r>
          </a:p>
        </p:txBody>
      </p:sp>
      <p:sp>
        <p:nvSpPr>
          <p:cNvPr id="115" name="Oval 114"/>
          <p:cNvSpPr/>
          <p:nvPr/>
        </p:nvSpPr>
        <p:spPr>
          <a:xfrm>
            <a:off x="2606040" y="1673352"/>
            <a:ext cx="237744" cy="237744"/>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2</a:t>
            </a:r>
          </a:p>
        </p:txBody>
      </p:sp>
      <p:sp>
        <p:nvSpPr>
          <p:cNvPr id="116" name="TextBox 115"/>
          <p:cNvSpPr txBox="1"/>
          <p:nvPr/>
        </p:nvSpPr>
        <p:spPr>
          <a:xfrm>
            <a:off x="2926080" y="1636776"/>
            <a:ext cx="2697480" cy="310896"/>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Pace chip: step by step or quick</a:t>
            </a:r>
          </a:p>
        </p:txBody>
      </p:sp>
      <p:sp>
        <p:nvSpPr>
          <p:cNvPr id="117" name="Oval 116"/>
          <p:cNvSpPr/>
          <p:nvPr/>
        </p:nvSpPr>
        <p:spPr>
          <a:xfrm>
            <a:off x="2606040" y="2075688"/>
            <a:ext cx="237744" cy="237744"/>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3</a:t>
            </a:r>
          </a:p>
        </p:txBody>
      </p:sp>
      <p:sp>
        <p:nvSpPr>
          <p:cNvPr id="118" name="TextBox 117"/>
          <p:cNvSpPr txBox="1"/>
          <p:nvPr/>
        </p:nvSpPr>
        <p:spPr>
          <a:xfrm>
            <a:off x="2926080" y="2039112"/>
            <a:ext cx="2697480" cy="310896"/>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Session timer and End chat</a:t>
            </a:r>
          </a:p>
        </p:txBody>
      </p:sp>
      <p:sp>
        <p:nvSpPr>
          <p:cNvPr id="119" name="Oval 118"/>
          <p:cNvSpPr/>
          <p:nvPr/>
        </p:nvSpPr>
        <p:spPr>
          <a:xfrm>
            <a:off x="2606040" y="2478024"/>
            <a:ext cx="237744" cy="237744"/>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4</a:t>
            </a:r>
          </a:p>
        </p:txBody>
      </p:sp>
      <p:sp>
        <p:nvSpPr>
          <p:cNvPr id="120" name="TextBox 119"/>
          <p:cNvSpPr txBox="1"/>
          <p:nvPr/>
        </p:nvSpPr>
        <p:spPr>
          <a:xfrm>
            <a:off x="2926080" y="2441448"/>
            <a:ext cx="2697480" cy="310896"/>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Live captions of what is said</a:t>
            </a:r>
          </a:p>
        </p:txBody>
      </p:sp>
      <p:sp>
        <p:nvSpPr>
          <p:cNvPr id="121" name="Oval 120"/>
          <p:cNvSpPr/>
          <p:nvPr/>
        </p:nvSpPr>
        <p:spPr>
          <a:xfrm>
            <a:off x="2606040" y="2880360"/>
            <a:ext cx="237744" cy="237744"/>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5</a:t>
            </a:r>
          </a:p>
        </p:txBody>
      </p:sp>
      <p:sp>
        <p:nvSpPr>
          <p:cNvPr id="122" name="TextBox 121"/>
          <p:cNvSpPr txBox="1"/>
          <p:nvPr/>
        </p:nvSpPr>
        <p:spPr>
          <a:xfrm>
            <a:off x="2926080" y="2843784"/>
            <a:ext cx="2697480" cy="310896"/>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Running cart with its total</a:t>
            </a:r>
          </a:p>
        </p:txBody>
      </p:sp>
      <p:sp>
        <p:nvSpPr>
          <p:cNvPr id="123" name="Oval 122"/>
          <p:cNvSpPr/>
          <p:nvPr/>
        </p:nvSpPr>
        <p:spPr>
          <a:xfrm>
            <a:off x="2606040" y="3282696"/>
            <a:ext cx="237744" cy="237744"/>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6</a:t>
            </a:r>
          </a:p>
        </p:txBody>
      </p:sp>
      <p:sp>
        <p:nvSpPr>
          <p:cNvPr id="124" name="TextBox 123"/>
          <p:cNvSpPr txBox="1"/>
          <p:nvPr/>
        </p:nvSpPr>
        <p:spPr>
          <a:xfrm>
            <a:off x="2926080" y="3246120"/>
            <a:ext cx="2697480" cy="310896"/>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One-tap suggestions</a:t>
            </a:r>
          </a:p>
        </p:txBody>
      </p:sp>
      <p:sp>
        <p:nvSpPr>
          <p:cNvPr id="125" name="Oval 124"/>
          <p:cNvSpPr/>
          <p:nvPr/>
        </p:nvSpPr>
        <p:spPr>
          <a:xfrm>
            <a:off x="2606040" y="3685031"/>
            <a:ext cx="237744" cy="237744"/>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7</a:t>
            </a:r>
          </a:p>
        </p:txBody>
      </p:sp>
      <p:sp>
        <p:nvSpPr>
          <p:cNvPr id="126" name="TextBox 125"/>
          <p:cNvSpPr txBox="1"/>
          <p:nvPr/>
        </p:nvSpPr>
        <p:spPr>
          <a:xfrm>
            <a:off x="2926080" y="3648456"/>
            <a:ext cx="2697480" cy="310896"/>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Type instead of speaking</a:t>
            </a:r>
          </a:p>
        </p:txBody>
      </p:sp>
      <p:sp>
        <p:nvSpPr>
          <p:cNvPr id="127" name="Oval 126"/>
          <p:cNvSpPr/>
          <p:nvPr/>
        </p:nvSpPr>
        <p:spPr>
          <a:xfrm>
            <a:off x="2606040" y="4087368"/>
            <a:ext cx="237744" cy="237744"/>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000" b="1" i="0">
                <a:solidFill>
                  <a:srgbClr val="FFFFFF"/>
                </a:solidFill>
                <a:latin typeface="Google Sans Flex"/>
                <a:ea typeface="Google Sans Flex"/>
                <a:cs typeface="Google Sans Flex"/>
              </a:rPr>
              <a:t>8</a:t>
            </a:r>
          </a:p>
        </p:txBody>
      </p:sp>
      <p:sp>
        <p:nvSpPr>
          <p:cNvPr id="128" name="TextBox 127"/>
          <p:cNvSpPr txBox="1"/>
          <p:nvPr/>
        </p:nvSpPr>
        <p:spPr>
          <a:xfrm>
            <a:off x="2926080" y="4050791"/>
            <a:ext cx="2697480" cy="310896"/>
          </a:xfrm>
          <a:prstGeom prst="rect">
            <a:avLst/>
          </a:prstGeom>
          <a:noFill/>
        </p:spPr>
        <p:txBody>
          <a:bodyPr wrap="square" lIns="36576" rIns="36576" tIns="36576" bIns="36576" anchor="ctr">
            <a:spAutoFit/>
          </a:bodyPr>
          <a:lstStyle/>
          <a:p>
            <a:pPr algn="l">
              <a:spcAft>
                <a:spcPts val="300"/>
              </a:spcAft>
            </a:pPr>
            <a:r>
              <a:rPr sz="1100" b="0" i="0">
                <a:solidFill>
                  <a:srgbClr val="202124"/>
                </a:solidFill>
                <a:latin typeface="Google Sans Flex"/>
                <a:ea typeface="Google Sans Flex"/>
                <a:cs typeface="Google Sans Flex"/>
              </a:rPr>
              <a:t>Show item (camera), mic, full cart</a:t>
            </a:r>
          </a:p>
        </p:txBody>
      </p:sp>
      <p:sp>
        <p:nvSpPr>
          <p:cNvPr id="129" name="TextBox 128"/>
          <p:cNvSpPr txBox="1"/>
          <p:nvPr/>
        </p:nvSpPr>
        <p:spPr>
          <a:xfrm>
            <a:off x="2606040" y="4471416"/>
            <a:ext cx="3017520" cy="457200"/>
          </a:xfrm>
          <a:prstGeom prst="rect">
            <a:avLst/>
          </a:prstGeom>
          <a:noFill/>
        </p:spPr>
        <p:txBody>
          <a:bodyPr wrap="square" lIns="36576" rIns="36576" tIns="36576" bIns="36576" anchor="t">
            <a:spAutoFit/>
          </a:bodyPr>
          <a:lstStyle/>
          <a:p>
            <a:pPr algn="l">
              <a:spcAft>
                <a:spcPts val="300"/>
              </a:spcAft>
            </a:pPr>
            <a:r>
              <a:rPr sz="1000" b="0" i="0">
                <a:solidFill>
                  <a:srgbClr val="5F6368"/>
                </a:solidFill>
                <a:latin typeface="Google Sans Flex"/>
                <a:ea typeface="Google Sans Flex"/>
                <a:cs typeface="Google Sans Flex"/>
              </a:rPr>
              <a:t>Screen from the working app: the shopkeeper asking what kind of snack the shopper wants.</a:t>
            </a:r>
          </a:p>
        </p:txBody>
      </p:sp>
      <p:pic>
        <p:nvPicPr>
          <p:cNvPr id="130" name="Picture 129" descr="p6_0_1202x1179.png"/>
          <p:cNvPicPr>
            <a:picLocks noChangeAspect="1"/>
          </p:cNvPicPr>
          <p:nvPr/>
        </p:nvPicPr>
        <p:blipFill>
          <a:blip r:embed="rId6"/>
          <a:stretch>
            <a:fillRect/>
          </a:stretch>
        </p:blipFill>
        <p:spPr>
          <a:xfrm>
            <a:off x="5897880" y="1188720"/>
            <a:ext cx="2834640" cy="2780400"/>
          </a:xfrm>
          <a:prstGeom prst="rect">
            <a:avLst/>
          </a:prstGeom>
        </p:spPr>
      </p:pic>
      <p:sp>
        <p:nvSpPr>
          <p:cNvPr id="131" name="TextBox 130"/>
          <p:cNvSpPr txBox="1"/>
          <p:nvPr/>
        </p:nvSpPr>
        <p:spPr>
          <a:xfrm>
            <a:off x="5897880" y="4041648"/>
            <a:ext cx="2834640" cy="731520"/>
          </a:xfrm>
          <a:prstGeom prst="rect">
            <a:avLst/>
          </a:prstGeom>
          <a:noFill/>
        </p:spPr>
        <p:txBody>
          <a:bodyPr wrap="square" lIns="36576" rIns="36576" tIns="36576" bIns="36576" anchor="t">
            <a:spAutoFit/>
          </a:bodyPr>
          <a:lstStyle/>
          <a:p>
            <a:pPr algn="l">
              <a:spcAft>
                <a:spcPts val="300"/>
              </a:spcAft>
            </a:pPr>
            <a:r>
              <a:rPr sz="1050" b="1" i="0">
                <a:solidFill>
                  <a:srgbClr val="202124"/>
                </a:solidFill>
                <a:latin typeface="Google Sans Flex"/>
                <a:ea typeface="Google Sans Flex"/>
                <a:cs typeface="Google Sans Flex"/>
              </a:rPr>
              <a:t>Tap or talk, one cart. </a:t>
            </a:r>
            <a:r>
              <a:rPr sz="1050" b="0" i="0">
                <a:solidFill>
                  <a:srgbClr val="202124"/>
                </a:solidFill>
                <a:latin typeface="Google Sans Flex"/>
                <a:ea typeface="Google Sans Flex"/>
                <a:cs typeface="Google Sans Flex"/>
              </a:rPr>
              <a:t>Whatever the shopper taps or says lands in the same cart, so nothing is lost or duplicated.</a:t>
            </a: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20"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09" name="Google Shape;109;p20"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0" name="Google Shape;110;p20"/>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20"/>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Architecture diagram of the proposed solution</a:t>
            </a:r>
            <a:endParaRPr sz="1600">
              <a:latin typeface="Google Sans Flex Medium"/>
              <a:ea typeface="Google Sans Flex Medium"/>
              <a:cs typeface="Google Sans Flex Medium"/>
              <a:sym typeface="Google Sans Flex Medium"/>
            </a:endParaRPr>
          </a:p>
        </p:txBody>
      </p:sp>
      <p:sp>
        <p:nvSpPr>
          <p:cNvPr id="112" name="Rounded Rectangle 111"/>
          <p:cNvSpPr/>
          <p:nvPr/>
        </p:nvSpPr>
        <p:spPr>
          <a:xfrm>
            <a:off x="411480" y="1170432"/>
            <a:ext cx="2103120" cy="3154680"/>
          </a:xfrm>
          <a:prstGeom prst="roundRect">
            <a:avLst>
              <a:gd name="adj" fmla="val 3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extBox 112"/>
          <p:cNvSpPr txBox="1"/>
          <p:nvPr/>
        </p:nvSpPr>
        <p:spPr>
          <a:xfrm>
            <a:off x="484632" y="1207008"/>
            <a:ext cx="1956815" cy="274320"/>
          </a:xfrm>
          <a:prstGeom prst="rect">
            <a:avLst/>
          </a:prstGeom>
          <a:noFill/>
        </p:spPr>
        <p:txBody>
          <a:bodyPr wrap="square" lIns="36576" rIns="36576" tIns="36576" bIns="36576" anchor="ctr">
            <a:spAutoFit/>
          </a:bodyPr>
          <a:lstStyle/>
          <a:p>
            <a:pPr algn="l">
              <a:spcAft>
                <a:spcPts val="300"/>
              </a:spcAft>
            </a:pPr>
            <a:r>
              <a:rPr sz="1100" b="1" i="0">
                <a:solidFill>
                  <a:srgbClr val="C5221F"/>
                </a:solidFill>
                <a:latin typeface="Google Sans Flex"/>
                <a:ea typeface="Google Sans Flex"/>
                <a:cs typeface="Google Sans Flex"/>
              </a:rPr>
              <a:t>Shopper's phone · browser</a:t>
            </a:r>
          </a:p>
        </p:txBody>
      </p:sp>
      <p:sp>
        <p:nvSpPr>
          <p:cNvPr id="114" name="Rounded Rectangle 113"/>
          <p:cNvSpPr/>
          <p:nvPr/>
        </p:nvSpPr>
        <p:spPr>
          <a:xfrm>
            <a:off x="502920" y="1517904"/>
            <a:ext cx="1920239" cy="1005840"/>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extBox 114"/>
          <p:cNvSpPr txBox="1"/>
          <p:nvPr/>
        </p:nvSpPr>
        <p:spPr>
          <a:xfrm>
            <a:off x="539496" y="1536192"/>
            <a:ext cx="1847087" cy="969264"/>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TalkToBuy widget</a:t>
            </a:r>
          </a:p>
          <a:p>
            <a:pPr algn="l">
              <a:spcAft>
                <a:spcPts val="100"/>
              </a:spcAft>
            </a:pPr>
            <a:r>
              <a:rPr sz="1000" b="0" i="0">
                <a:solidFill>
                  <a:srgbClr val="5F6368"/>
                </a:solidFill>
                <a:latin typeface="Google Sans Flex"/>
                <a:ea typeface="Google Sans Flex"/>
                <a:cs typeface="Google Sans Flex"/>
              </a:rPr>
              <a:t>Lit web component · Web Audio mic and speaker · WebSocket client</a:t>
            </a:r>
          </a:p>
        </p:txBody>
      </p:sp>
      <p:sp>
        <p:nvSpPr>
          <p:cNvPr id="116" name="Rounded Rectangle 115"/>
          <p:cNvSpPr/>
          <p:nvPr/>
        </p:nvSpPr>
        <p:spPr>
          <a:xfrm>
            <a:off x="502920" y="2596896"/>
            <a:ext cx="1920239" cy="640080"/>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extBox 116"/>
          <p:cNvSpPr txBox="1"/>
          <p:nvPr/>
        </p:nvSpPr>
        <p:spPr>
          <a:xfrm>
            <a:off x="539496" y="2615184"/>
            <a:ext cx="1847087" cy="603503"/>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Shop app</a:t>
            </a:r>
          </a:p>
          <a:p>
            <a:pPr algn="l">
              <a:spcAft>
                <a:spcPts val="100"/>
              </a:spcAft>
            </a:pPr>
            <a:r>
              <a:rPr sz="1000" b="0" i="0">
                <a:solidFill>
                  <a:srgbClr val="5F6368"/>
                </a:solidFill>
                <a:latin typeface="Google Sans Flex"/>
                <a:ea typeface="Google Sans Flex"/>
                <a:cs typeface="Google Sans Flex"/>
              </a:rPr>
              <a:t>Browse, cart, checkout</a:t>
            </a:r>
          </a:p>
        </p:txBody>
      </p:sp>
      <p:sp>
        <p:nvSpPr>
          <p:cNvPr id="118" name="Rounded Rectangle 117"/>
          <p:cNvSpPr/>
          <p:nvPr/>
        </p:nvSpPr>
        <p:spPr>
          <a:xfrm>
            <a:off x="502920" y="3310128"/>
            <a:ext cx="1920239" cy="896112"/>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extBox 118"/>
          <p:cNvSpPr txBox="1"/>
          <p:nvPr/>
        </p:nvSpPr>
        <p:spPr>
          <a:xfrm>
            <a:off x="539496" y="3328416"/>
            <a:ext cx="1847087" cy="859536"/>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Biometric payment</a:t>
            </a:r>
          </a:p>
          <a:p>
            <a:pPr algn="l">
              <a:spcAft>
                <a:spcPts val="100"/>
              </a:spcAft>
            </a:pPr>
            <a:r>
              <a:rPr sz="1000" b="0" i="0">
                <a:solidFill>
                  <a:srgbClr val="5F6368"/>
                </a:solidFill>
                <a:latin typeface="Google Sans Flex"/>
                <a:ea typeface="Google Sans Flex"/>
                <a:cs typeface="Google Sans Flex"/>
              </a:rPr>
              <a:t>WebAuthn fingerprint on the shop's own payment screen</a:t>
            </a:r>
          </a:p>
        </p:txBody>
      </p:sp>
      <p:sp>
        <p:nvSpPr>
          <p:cNvPr id="120" name="Rounded Rectangle 119"/>
          <p:cNvSpPr/>
          <p:nvPr/>
        </p:nvSpPr>
        <p:spPr>
          <a:xfrm>
            <a:off x="3017520" y="1170432"/>
            <a:ext cx="2651760" cy="3154680"/>
          </a:xfrm>
          <a:prstGeom prst="roundRect">
            <a:avLst>
              <a:gd name="adj" fmla="val 3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extBox 120"/>
          <p:cNvSpPr txBox="1"/>
          <p:nvPr/>
        </p:nvSpPr>
        <p:spPr>
          <a:xfrm>
            <a:off x="3090672" y="1207008"/>
            <a:ext cx="2505456" cy="274320"/>
          </a:xfrm>
          <a:prstGeom prst="rect">
            <a:avLst/>
          </a:prstGeom>
          <a:noFill/>
        </p:spPr>
        <p:txBody>
          <a:bodyPr wrap="square" lIns="36576" rIns="36576" tIns="36576" bIns="36576" anchor="ctr">
            <a:spAutoFit/>
          </a:bodyPr>
          <a:lstStyle/>
          <a:p>
            <a:pPr algn="l">
              <a:spcAft>
                <a:spcPts val="300"/>
              </a:spcAft>
            </a:pPr>
            <a:r>
              <a:rPr sz="1100" b="1" i="0">
                <a:solidFill>
                  <a:srgbClr val="188038"/>
                </a:solidFill>
                <a:latin typeface="Google Sans Flex"/>
                <a:ea typeface="Google Sans Flex"/>
                <a:cs typeface="Google Sans Flex"/>
              </a:rPr>
              <a:t>Session server · FastAPI</a:t>
            </a:r>
          </a:p>
        </p:txBody>
      </p:sp>
      <p:sp>
        <p:nvSpPr>
          <p:cNvPr id="122" name="Rounded Rectangle 121"/>
          <p:cNvSpPr/>
          <p:nvPr/>
        </p:nvSpPr>
        <p:spPr>
          <a:xfrm>
            <a:off x="3108960" y="1517904"/>
            <a:ext cx="2468879" cy="621792"/>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extBox 122"/>
          <p:cNvSpPr txBox="1"/>
          <p:nvPr/>
        </p:nvSpPr>
        <p:spPr>
          <a:xfrm>
            <a:off x="3145536" y="1536192"/>
            <a:ext cx="2395727" cy="585216"/>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Session orchestrator</a:t>
            </a:r>
          </a:p>
          <a:p>
            <a:pPr algn="l">
              <a:spcAft>
                <a:spcPts val="100"/>
              </a:spcAft>
            </a:pPr>
            <a:r>
              <a:rPr sz="1000" b="0" i="0">
                <a:solidFill>
                  <a:srgbClr val="5F6368"/>
                </a:solidFill>
                <a:latin typeface="Google Sans Flex"/>
                <a:ea typeface="Google Sans Flex"/>
                <a:cs typeface="Google Sans Flex"/>
              </a:rPr>
              <a:t>audio relay · captions · idle and time caps</a:t>
            </a:r>
          </a:p>
        </p:txBody>
      </p:sp>
      <p:sp>
        <p:nvSpPr>
          <p:cNvPr id="124" name="Rounded Rectangle 123"/>
          <p:cNvSpPr/>
          <p:nvPr/>
        </p:nvSpPr>
        <p:spPr>
          <a:xfrm>
            <a:off x="3108960" y="2203704"/>
            <a:ext cx="2468879" cy="621792"/>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extBox 124"/>
          <p:cNvSpPr txBox="1"/>
          <p:nvPr/>
        </p:nvSpPr>
        <p:spPr>
          <a:xfrm>
            <a:off x="3145536" y="2221992"/>
            <a:ext cx="2395727" cy="585216"/>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Tool router + guards</a:t>
            </a:r>
          </a:p>
          <a:p>
            <a:pPr algn="l">
              <a:spcAft>
                <a:spcPts val="100"/>
              </a:spcAft>
            </a:pPr>
            <a:r>
              <a:rPr sz="1000" b="0" i="0">
                <a:solidFill>
                  <a:srgbClr val="5F6368"/>
                </a:solidFill>
                <a:latin typeface="Google Sans Flex"/>
                <a:ea typeface="Google Sans Flex"/>
                <a:cs typeface="Google Sans Flex"/>
              </a:rPr>
              <a:t>JSON-Schema checks · approval before inferred items</a:t>
            </a:r>
          </a:p>
        </p:txBody>
      </p:sp>
      <p:sp>
        <p:nvSpPr>
          <p:cNvPr id="126" name="Rounded Rectangle 125"/>
          <p:cNvSpPr/>
          <p:nvPr/>
        </p:nvSpPr>
        <p:spPr>
          <a:xfrm>
            <a:off x="3108960" y="2889504"/>
            <a:ext cx="2468879" cy="621792"/>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extBox 126"/>
          <p:cNvSpPr txBox="1"/>
          <p:nvPr/>
        </p:nvSpPr>
        <p:spPr>
          <a:xfrm>
            <a:off x="3145536" y="2907792"/>
            <a:ext cx="2395727" cy="585216"/>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Planner</a:t>
            </a:r>
          </a:p>
          <a:p>
            <a:pPr algn="l">
              <a:spcAft>
                <a:spcPts val="100"/>
              </a:spcAft>
            </a:pPr>
            <a:r>
              <a:rPr sz="1000" b="0" i="0">
                <a:solidFill>
                  <a:srgbClr val="5F6368"/>
                </a:solidFill>
                <a:latin typeface="Google Sans Flex"/>
                <a:ea typeface="Google Sans Flex"/>
                <a:cs typeface="Google Sans Flex"/>
              </a:rPr>
              <a:t>dish lists · Hindi unit parser · pack plans</a:t>
            </a:r>
          </a:p>
        </p:txBody>
      </p:sp>
      <p:sp>
        <p:nvSpPr>
          <p:cNvPr id="128" name="Rounded Rectangle 127"/>
          <p:cNvSpPr/>
          <p:nvPr/>
        </p:nvSpPr>
        <p:spPr>
          <a:xfrm>
            <a:off x="3108960" y="3575304"/>
            <a:ext cx="2468879" cy="621792"/>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3145536" y="3593592"/>
            <a:ext cx="2395727" cy="585216"/>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Safety + shared cart</a:t>
            </a:r>
          </a:p>
          <a:p>
            <a:pPr algn="l">
              <a:spcAft>
                <a:spcPts val="100"/>
              </a:spcAft>
            </a:pPr>
            <a:r>
              <a:rPr sz="1000" b="0" i="0">
                <a:solidFill>
                  <a:srgbClr val="5F6368"/>
                </a:solidFill>
                <a:latin typeface="Google Sans Flex"/>
                <a:ea typeface="Google Sans Flex"/>
                <a:cs typeface="Google Sans Flex"/>
              </a:rPr>
              <a:t>warning-sign check · cart re-read before each cart action</a:t>
            </a:r>
          </a:p>
        </p:txBody>
      </p:sp>
      <p:sp>
        <p:nvSpPr>
          <p:cNvPr id="130" name="Rounded Rectangle 129"/>
          <p:cNvSpPr/>
          <p:nvPr/>
        </p:nvSpPr>
        <p:spPr>
          <a:xfrm>
            <a:off x="6172200" y="1170432"/>
            <a:ext cx="2560320" cy="1783080"/>
          </a:xfrm>
          <a:prstGeom prst="roundRect">
            <a:avLst>
              <a:gd name="adj" fmla="val 3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extBox 130"/>
          <p:cNvSpPr txBox="1"/>
          <p:nvPr/>
        </p:nvSpPr>
        <p:spPr>
          <a:xfrm>
            <a:off x="6245352" y="1207008"/>
            <a:ext cx="2414015" cy="274320"/>
          </a:xfrm>
          <a:prstGeom prst="rect">
            <a:avLst/>
          </a:prstGeom>
          <a:noFill/>
        </p:spPr>
        <p:txBody>
          <a:bodyPr wrap="square" lIns="36576" rIns="36576" tIns="36576" bIns="36576" anchor="ctr">
            <a:spAutoFit/>
          </a:bodyPr>
          <a:lstStyle/>
          <a:p>
            <a:pPr algn="l">
              <a:spcAft>
                <a:spcPts val="300"/>
              </a:spcAft>
            </a:pPr>
            <a:r>
              <a:rPr sz="1100" b="1" i="0">
                <a:solidFill>
                  <a:srgbClr val="1A73E8"/>
                </a:solidFill>
                <a:latin typeface="Google Sans Flex"/>
                <a:ea typeface="Google Sans Flex"/>
                <a:cs typeface="Google Sans Flex"/>
              </a:rPr>
              <a:t>Google Cloud · Vertex AI</a:t>
            </a:r>
          </a:p>
        </p:txBody>
      </p:sp>
      <p:sp>
        <p:nvSpPr>
          <p:cNvPr id="132" name="Rounded Rectangle 131"/>
          <p:cNvSpPr/>
          <p:nvPr/>
        </p:nvSpPr>
        <p:spPr>
          <a:xfrm>
            <a:off x="6263640" y="1499616"/>
            <a:ext cx="1097280" cy="429768"/>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extBox 132"/>
          <p:cNvSpPr txBox="1"/>
          <p:nvPr/>
        </p:nvSpPr>
        <p:spPr>
          <a:xfrm>
            <a:off x="6300216" y="1517904"/>
            <a:ext cx="1024127" cy="393192"/>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Gemini Live</a:t>
            </a:r>
          </a:p>
          <a:p>
            <a:pPr algn="l">
              <a:spcAft>
                <a:spcPts val="100"/>
              </a:spcAft>
            </a:pPr>
            <a:r>
              <a:rPr sz="1000" b="0" i="0">
                <a:solidFill>
                  <a:srgbClr val="5F6368"/>
                </a:solidFill>
                <a:latin typeface="Google Sans Flex"/>
                <a:ea typeface="Google Sans Flex"/>
                <a:cs typeface="Google Sans Flex"/>
              </a:rPr>
              <a:t>voice + tools</a:t>
            </a:r>
          </a:p>
        </p:txBody>
      </p:sp>
      <p:sp>
        <p:nvSpPr>
          <p:cNvPr id="134" name="Rounded Rectangle 133"/>
          <p:cNvSpPr/>
          <p:nvPr/>
        </p:nvSpPr>
        <p:spPr>
          <a:xfrm>
            <a:off x="7452360" y="1499616"/>
            <a:ext cx="1097280" cy="429768"/>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7488936" y="1517904"/>
            <a:ext cx="1024127" cy="393192"/>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2.5 Flash</a:t>
            </a:r>
          </a:p>
          <a:p>
            <a:pPr algn="l">
              <a:spcAft>
                <a:spcPts val="100"/>
              </a:spcAft>
            </a:pPr>
            <a:r>
              <a:rPr sz="1000" b="0" i="0">
                <a:solidFill>
                  <a:srgbClr val="5F6368"/>
                </a:solidFill>
                <a:latin typeface="Google Sans Flex"/>
                <a:ea typeface="Google Sans Flex"/>
                <a:cs typeface="Google Sans Flex"/>
              </a:rPr>
              <a:t>safety check</a:t>
            </a:r>
          </a:p>
        </p:txBody>
      </p:sp>
      <p:sp>
        <p:nvSpPr>
          <p:cNvPr id="136" name="Rounded Rectangle 135"/>
          <p:cNvSpPr/>
          <p:nvPr/>
        </p:nvSpPr>
        <p:spPr>
          <a:xfrm>
            <a:off x="6263640" y="1975104"/>
            <a:ext cx="1097280" cy="429768"/>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extBox 136"/>
          <p:cNvSpPr txBox="1"/>
          <p:nvPr/>
        </p:nvSpPr>
        <p:spPr>
          <a:xfrm>
            <a:off x="6300216" y="1993392"/>
            <a:ext cx="1024127" cy="393192"/>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Flash-Lite</a:t>
            </a:r>
          </a:p>
          <a:p>
            <a:pPr algn="l">
              <a:spcAft>
                <a:spcPts val="100"/>
              </a:spcAft>
            </a:pPr>
            <a:r>
              <a:rPr sz="1000" b="0" i="0">
                <a:solidFill>
                  <a:srgbClr val="5F6368"/>
                </a:solidFill>
                <a:latin typeface="Google Sans Flex"/>
                <a:ea typeface="Google Sans Flex"/>
                <a:cs typeface="Google Sans Flex"/>
              </a:rPr>
              <a:t>captions</a:t>
            </a:r>
          </a:p>
        </p:txBody>
      </p:sp>
      <p:sp>
        <p:nvSpPr>
          <p:cNvPr id="138" name="Rounded Rectangle 137"/>
          <p:cNvSpPr/>
          <p:nvPr/>
        </p:nvSpPr>
        <p:spPr>
          <a:xfrm>
            <a:off x="7452360" y="1975104"/>
            <a:ext cx="1097280" cy="429768"/>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extBox 138"/>
          <p:cNvSpPr txBox="1"/>
          <p:nvPr/>
        </p:nvSpPr>
        <p:spPr>
          <a:xfrm>
            <a:off x="7488936" y="1993392"/>
            <a:ext cx="1024127" cy="393192"/>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Embedding</a:t>
            </a:r>
          </a:p>
          <a:p>
            <a:pPr algn="l">
              <a:spcAft>
                <a:spcPts val="100"/>
              </a:spcAft>
            </a:pPr>
            <a:r>
              <a:rPr sz="1000" b="0" i="0">
                <a:solidFill>
                  <a:srgbClr val="5F6368"/>
                </a:solidFill>
                <a:latin typeface="Google Sans Flex"/>
                <a:ea typeface="Google Sans Flex"/>
                <a:cs typeface="Google Sans Flex"/>
              </a:rPr>
              <a:t>search</a:t>
            </a:r>
          </a:p>
        </p:txBody>
      </p:sp>
      <p:sp>
        <p:nvSpPr>
          <p:cNvPr id="140" name="Rounded Rectangle 139"/>
          <p:cNvSpPr/>
          <p:nvPr/>
        </p:nvSpPr>
        <p:spPr>
          <a:xfrm>
            <a:off x="6263640" y="2450592"/>
            <a:ext cx="2377439" cy="429768"/>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extBox 140"/>
          <p:cNvSpPr txBox="1"/>
          <p:nvPr/>
        </p:nvSpPr>
        <p:spPr>
          <a:xfrm>
            <a:off x="6300216" y="2468880"/>
            <a:ext cx="2304287" cy="393192"/>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Cloud Firestore</a:t>
            </a:r>
          </a:p>
          <a:p>
            <a:pPr algn="l">
              <a:spcAft>
                <a:spcPts val="100"/>
              </a:spcAft>
            </a:pPr>
            <a:r>
              <a:rPr sz="1000" b="0" i="0">
                <a:solidFill>
                  <a:srgbClr val="5F6368"/>
                </a:solidFill>
                <a:latin typeface="Google Sans Flex"/>
                <a:ea typeface="Google Sans Flex"/>
                <a:cs typeface="Google Sans Flex"/>
              </a:rPr>
              <a:t>session state</a:t>
            </a:r>
          </a:p>
        </p:txBody>
      </p:sp>
      <p:sp>
        <p:nvSpPr>
          <p:cNvPr id="142" name="Rounded Rectangle 141"/>
          <p:cNvSpPr/>
          <p:nvPr/>
        </p:nvSpPr>
        <p:spPr>
          <a:xfrm>
            <a:off x="6172200" y="3044952"/>
            <a:ext cx="2560320" cy="1280160"/>
          </a:xfrm>
          <a:prstGeom prst="roundRect">
            <a:avLst>
              <a:gd name="adj" fmla="val 3000"/>
            </a:avLst>
          </a:prstGeom>
          <a:solidFill>
            <a:srgbClr val="F3E8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extBox 142"/>
          <p:cNvSpPr txBox="1"/>
          <p:nvPr/>
        </p:nvSpPr>
        <p:spPr>
          <a:xfrm>
            <a:off x="6245352" y="3081528"/>
            <a:ext cx="2414015" cy="274320"/>
          </a:xfrm>
          <a:prstGeom prst="rect">
            <a:avLst/>
          </a:prstGeom>
          <a:noFill/>
        </p:spPr>
        <p:txBody>
          <a:bodyPr wrap="square" lIns="36576" rIns="36576" tIns="36576" bIns="36576" anchor="ctr">
            <a:spAutoFit/>
          </a:bodyPr>
          <a:lstStyle/>
          <a:p>
            <a:pPr algn="l">
              <a:spcAft>
                <a:spcPts val="300"/>
              </a:spcAft>
            </a:pPr>
            <a:r>
              <a:rPr sz="1100" b="1" i="0">
                <a:solidFill>
                  <a:srgbClr val="8430CE"/>
                </a:solidFill>
                <a:latin typeface="Google Sans Flex"/>
                <a:ea typeface="Google Sans Flex"/>
                <a:cs typeface="Google Sans Flex"/>
              </a:rPr>
              <a:t>Demo store · FastAPI · Cloud Run</a:t>
            </a:r>
          </a:p>
        </p:txBody>
      </p:sp>
      <p:sp>
        <p:nvSpPr>
          <p:cNvPr id="144" name="Rounded Rectangle 143"/>
          <p:cNvSpPr/>
          <p:nvPr/>
        </p:nvSpPr>
        <p:spPr>
          <a:xfrm>
            <a:off x="6263640" y="3355848"/>
            <a:ext cx="2377439" cy="283464"/>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6300216" y="3374136"/>
            <a:ext cx="2304287" cy="246888"/>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UCP catalogue, cart, checkout</a:t>
            </a:r>
          </a:p>
        </p:txBody>
      </p:sp>
      <p:sp>
        <p:nvSpPr>
          <p:cNvPr id="146" name="Rounded Rectangle 145"/>
          <p:cNvSpPr/>
          <p:nvPr/>
        </p:nvSpPr>
        <p:spPr>
          <a:xfrm>
            <a:off x="6263640" y="3685032"/>
            <a:ext cx="2377439" cy="283464"/>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extBox 146"/>
          <p:cNvSpPr txBox="1"/>
          <p:nvPr/>
        </p:nvSpPr>
        <p:spPr>
          <a:xfrm>
            <a:off x="6300216" y="3703320"/>
            <a:ext cx="2304287" cy="246888"/>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AP2 mandates, ES256 signed</a:t>
            </a:r>
          </a:p>
        </p:txBody>
      </p:sp>
      <p:sp>
        <p:nvSpPr>
          <p:cNvPr id="148" name="Rounded Rectangle 147"/>
          <p:cNvSpPr/>
          <p:nvPr/>
        </p:nvSpPr>
        <p:spPr>
          <a:xfrm>
            <a:off x="6263640" y="4014215"/>
            <a:ext cx="2377439" cy="283464"/>
          </a:xfrm>
          <a:prstGeom prst="roundRect">
            <a:avLst>
              <a:gd name="adj" fmla="val 5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extBox 148"/>
          <p:cNvSpPr txBox="1"/>
          <p:nvPr/>
        </p:nvSpPr>
        <p:spPr>
          <a:xfrm>
            <a:off x="6300216" y="4032503"/>
            <a:ext cx="2304287" cy="246888"/>
          </a:xfrm>
          <a:prstGeom prst="rect">
            <a:avLst/>
          </a:prstGeom>
          <a:noFill/>
        </p:spPr>
        <p:txBody>
          <a:bodyPr wrap="square" lIns="36576" rIns="36576" tIns="36576" bIns="36576" anchor="ctr">
            <a:spAutoFit/>
          </a:bodyPr>
          <a:lstStyle/>
          <a:p>
            <a:pPr algn="l">
              <a:spcAft>
                <a:spcPts val="100"/>
              </a:spcAft>
            </a:pPr>
            <a:r>
              <a:rPr sz="1050" b="1" i="0">
                <a:solidFill>
                  <a:srgbClr val="202124"/>
                </a:solidFill>
                <a:latin typeface="Google Sans Flex"/>
                <a:ea typeface="Google Sans Flex"/>
                <a:cs typeface="Google Sans Flex"/>
              </a:rPr>
              <a:t>WebAuthn verification</a:t>
            </a:r>
          </a:p>
        </p:txBody>
      </p:sp>
      <p:cxnSp>
        <p:nvCxnSpPr>
          <p:cNvPr id="150" name="Connector 149"/>
          <p:cNvCxnSpPr/>
          <p:nvPr/>
        </p:nvCxnSpPr>
        <p:spPr>
          <a:xfrm>
            <a:off x="2542032" y="2651760"/>
            <a:ext cx="448056" cy="0"/>
          </a:xfrm>
          <a:prstGeom prst="line">
            <a:avLst/>
          </a:prstGeom>
          <a:ln w="19050">
            <a:solidFill>
              <a:srgbClr val="5F6368"/>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5696712" y="2011680"/>
            <a:ext cx="448056" cy="0"/>
          </a:xfrm>
          <a:prstGeom prst="line">
            <a:avLst/>
          </a:prstGeom>
          <a:ln w="19050">
            <a:solidFill>
              <a:srgbClr val="5F6368"/>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5696712" y="3657600"/>
            <a:ext cx="448056" cy="0"/>
          </a:xfrm>
          <a:prstGeom prst="line">
            <a:avLst/>
          </a:prstGeom>
          <a:ln w="19050">
            <a:solidFill>
              <a:srgbClr val="5F6368"/>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53" name="TextBox 152"/>
          <p:cNvSpPr txBox="1"/>
          <p:nvPr/>
        </p:nvSpPr>
        <p:spPr>
          <a:xfrm>
            <a:off x="411480" y="4379976"/>
            <a:ext cx="8321040" cy="274320"/>
          </a:xfrm>
          <a:prstGeom prst="rect">
            <a:avLst/>
          </a:prstGeom>
          <a:noFill/>
        </p:spPr>
        <p:txBody>
          <a:bodyPr wrap="square" lIns="36576" rIns="36576" tIns="36576" bIns="36576" anchor="t">
            <a:spAutoFit/>
          </a:bodyPr>
          <a:lstStyle/>
          <a:p>
            <a:pPr algn="l">
              <a:spcAft>
                <a:spcPts val="300"/>
              </a:spcAft>
            </a:pPr>
            <a:r>
              <a:rPr sz="1000" b="1" i="0">
                <a:solidFill>
                  <a:srgbClr val="5F6368"/>
                </a:solidFill>
                <a:latin typeface="Google Sans Flex"/>
                <a:ea typeface="Google Sans Flex"/>
                <a:cs typeface="Google Sans Flex"/>
              </a:rPr>
              <a:t>Links: </a:t>
            </a:r>
            <a:r>
              <a:rPr sz="1000" b="0" i="0">
                <a:solidFill>
                  <a:srgbClr val="5F6368"/>
                </a:solidFill>
                <a:latin typeface="Google Sans Flex"/>
                <a:ea typeface="Google Sans Flex"/>
                <a:cs typeface="Google Sans Flex"/>
              </a:rPr>
              <a:t>phone ⇄ server: audio + text (WebSocket)  ·  server ⇄ Google Cloud: live audio, tools, state  ·  server ⇄ store: UCP over HTTPS</a:t>
            </a:r>
          </a:p>
        </p:txBody>
      </p:sp>
      <p:sp>
        <p:nvSpPr>
          <p:cNvPr id="154" name="Rounded Rectangle 153"/>
          <p:cNvSpPr/>
          <p:nvPr/>
        </p:nvSpPr>
        <p:spPr>
          <a:xfrm>
            <a:off x="411480" y="4663440"/>
            <a:ext cx="8321040" cy="274320"/>
          </a:xfrm>
          <a:prstGeom prst="roundRect">
            <a:avLst>
              <a:gd name="adj" fmla="val 20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extBox 154"/>
          <p:cNvSpPr txBox="1"/>
          <p:nvPr/>
        </p:nvSpPr>
        <p:spPr>
          <a:xfrm>
            <a:off x="502920" y="4663440"/>
            <a:ext cx="8138160" cy="274320"/>
          </a:xfrm>
          <a:prstGeom prst="rect">
            <a:avLst/>
          </a:prstGeom>
          <a:noFill/>
        </p:spPr>
        <p:txBody>
          <a:bodyPr wrap="square" lIns="36576" rIns="36576" tIns="36576" bIns="36576" anchor="ctr">
            <a:spAutoFit/>
          </a:bodyPr>
          <a:lstStyle/>
          <a:p>
            <a:pPr algn="l">
              <a:spcAft>
                <a:spcPts val="300"/>
              </a:spcAft>
            </a:pPr>
            <a:r>
              <a:rPr sz="1050" b="1" i="0">
                <a:solidFill>
                  <a:srgbClr val="B06000"/>
                </a:solidFill>
                <a:latin typeface="Google Sans Flex"/>
                <a:ea typeface="Google Sans Flex"/>
                <a:cs typeface="Google Sans Flex"/>
              </a:rPr>
              <a:t>Payment: </a:t>
            </a:r>
            <a:r>
              <a:rPr sz="1050" b="0" i="0">
                <a:solidFill>
                  <a:srgbClr val="202124"/>
                </a:solidFill>
                <a:latin typeface="Google Sans Flex"/>
                <a:ea typeface="Google Sans Flex"/>
                <a:cs typeface="Google Sans Flex"/>
              </a:rPr>
              <a:t>the fingerprint is checked in the browser and goes straight to the store, never through voice.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pic>
        <p:nvPicPr>
          <p:cNvPr id="116" name="Google Shape;116;p21"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17" name="Google Shape;117;p21"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18" name="Google Shape;118;p21"/>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9" name="Google Shape;119;p21"/>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Technologies to be used in the solution</a:t>
            </a:r>
            <a:endParaRPr sz="1600">
              <a:latin typeface="Google Sans Flex Medium"/>
              <a:ea typeface="Google Sans Flex Medium"/>
              <a:cs typeface="Google Sans Flex Medium"/>
              <a:sym typeface="Google Sans Flex Medium"/>
            </a:endParaRPr>
          </a:p>
        </p:txBody>
      </p:sp>
      <p:graphicFrame>
        <p:nvGraphicFramePr>
          <p:cNvPr id="120" name="Table 119"/>
          <p:cNvGraphicFramePr>
            <a:graphicFrameLocks noGrp="1"/>
          </p:cNvGraphicFramePr>
          <p:nvPr/>
        </p:nvGraphicFramePr>
        <p:xfrm>
          <a:off x="411480" y="1188720"/>
          <a:ext cx="5303520" cy="3291840"/>
        </p:xfrm>
        <a:graphic>
          <a:graphicData uri="http://schemas.openxmlformats.org/drawingml/2006/table">
            <a:tbl>
              <a:tblPr firstRow="1" bandRow="1">
                <a:tableStyleId>{5C22544A-7EE6-4342-B048-85BDC9FD1C3A}</a:tableStyleId>
              </a:tblPr>
              <a:tblGrid>
                <a:gridCol w="2057400"/>
                <a:gridCol w="3246120"/>
              </a:tblGrid>
              <a:tr h="329184">
                <a:tc>
                  <a:txBody>
                    <a:bodyPr wrap="square"/>
                    <a:lstStyle/>
                    <a:p>
                      <a:r>
                        <a:rPr sz="1050" b="1" i="0">
                          <a:solidFill>
                            <a:srgbClr val="FFFFFF"/>
                          </a:solidFill>
                          <a:latin typeface="Google Sans Flex"/>
                          <a:ea typeface="Google Sans Flex"/>
                          <a:cs typeface="Google Sans Flex"/>
                        </a:rPr>
                        <a:t>Google product</a:t>
                      </a:r>
                    </a:p>
                  </a:txBody>
                  <a:tcPr marL="73152" marR="73152" marT="27432" marB="27432" anchor="ctr">
                    <a:solidFill>
                      <a:srgbClr val="202124"/>
                    </a:solidFill>
                  </a:tcPr>
                </a:tc>
                <a:tc>
                  <a:txBody>
                    <a:bodyPr wrap="square"/>
                    <a:lstStyle/>
                    <a:p>
                      <a:r>
                        <a:rPr sz="1050" b="1" i="0">
                          <a:solidFill>
                            <a:srgbClr val="FFFFFF"/>
                          </a:solidFill>
                          <a:latin typeface="Google Sans Flex"/>
                          <a:ea typeface="Google Sans Flex"/>
                          <a:cs typeface="Google Sans Flex"/>
                        </a:rPr>
                        <a:t>What we use it for</a:t>
                      </a:r>
                    </a:p>
                  </a:txBody>
                  <a:tcPr marL="73152" marR="73152" marT="27432" marB="27432" anchor="ctr">
                    <a:solidFill>
                      <a:srgbClr val="202124"/>
                    </a:solidFill>
                  </a:tcPr>
                </a:tc>
              </a:tr>
              <a:tr h="329184">
                <a:tc>
                  <a:txBody>
                    <a:bodyPr wrap="square"/>
                    <a:lstStyle/>
                    <a:p>
                      <a:r>
                        <a:rPr sz="1050" b="1" i="0">
                          <a:solidFill>
                            <a:srgbClr val="202124"/>
                          </a:solidFill>
                          <a:latin typeface="Google Sans Flex"/>
                          <a:ea typeface="Google Sans Flex"/>
                          <a:cs typeface="Google Sans Flex"/>
                        </a:rPr>
                        <a:t>Gemini Live (Vertex AI)</a:t>
                      </a:r>
                    </a:p>
                  </a:txBody>
                  <a:tcPr marL="73152" marR="73152" marT="27432" marB="27432" anchor="ctr">
                    <a:solidFill>
                      <a:srgbClr val="FFFFFF"/>
                    </a:solidFill>
                  </a:tcPr>
                </a:tc>
                <a:tc>
                  <a:txBody>
                    <a:bodyPr wrap="square"/>
                    <a:lstStyle/>
                    <a:p>
                      <a:r>
                        <a:rPr sz="1050" b="0" i="0">
                          <a:solidFill>
                            <a:srgbClr val="202124"/>
                          </a:solidFill>
                          <a:latin typeface="Google Sans Flex"/>
                          <a:ea typeface="Google Sans Flex"/>
                          <a:cs typeface="Google Sans Flex"/>
                        </a:rPr>
                        <a:t>Real-time voice conversation and tool calling</a:t>
                      </a:r>
                    </a:p>
                  </a:txBody>
                  <a:tcPr marL="73152" marR="73152" marT="27432" marB="27432" anchor="ctr">
                    <a:solidFill>
                      <a:srgbClr val="FFFFFF"/>
                    </a:solidFill>
                  </a:tcPr>
                </a:tc>
              </a:tr>
              <a:tr h="329184">
                <a:tc>
                  <a:txBody>
                    <a:bodyPr wrap="square"/>
                    <a:lstStyle/>
                    <a:p>
                      <a:r>
                        <a:rPr sz="1050" b="1" i="0">
                          <a:solidFill>
                            <a:srgbClr val="202124"/>
                          </a:solidFill>
                          <a:latin typeface="Google Sans Flex"/>
                          <a:ea typeface="Google Sans Flex"/>
                          <a:cs typeface="Google Sans Flex"/>
                        </a:rPr>
                        <a:t>Gemini Live Avatar</a:t>
                      </a:r>
                    </a:p>
                  </a:txBody>
                  <a:tcPr marL="73152" marR="73152" marT="27432" marB="27432" anchor="ctr">
                    <a:solidFill>
                      <a:srgbClr val="F1F3F4"/>
                    </a:solidFill>
                  </a:tcPr>
                </a:tc>
                <a:tc>
                  <a:txBody>
                    <a:bodyPr wrap="square"/>
                    <a:lstStyle/>
                    <a:p>
                      <a:r>
                        <a:rPr sz="1050" b="0" i="0">
                          <a:solidFill>
                            <a:srgbClr val="202124"/>
                          </a:solidFill>
                          <a:latin typeface="Google Sans Flex"/>
                          <a:ea typeface="Google Sans Flex"/>
                          <a:cs typeface="Google Sans Flex"/>
                        </a:rPr>
                        <a:t>Optional animated shopkeeper, off by default</a:t>
                      </a:r>
                    </a:p>
                  </a:txBody>
                  <a:tcPr marL="73152" marR="73152" marT="27432" marB="27432" anchor="ctr">
                    <a:solidFill>
                      <a:srgbClr val="F1F3F4"/>
                    </a:solidFill>
                  </a:tcPr>
                </a:tc>
              </a:tr>
              <a:tr h="329184">
                <a:tc>
                  <a:txBody>
                    <a:bodyPr wrap="square"/>
                    <a:lstStyle/>
                    <a:p>
                      <a:r>
                        <a:rPr sz="1050" b="1" i="0">
                          <a:solidFill>
                            <a:srgbClr val="202124"/>
                          </a:solidFill>
                          <a:latin typeface="Google Sans Flex"/>
                          <a:ea typeface="Google Sans Flex"/>
                          <a:cs typeface="Google Sans Flex"/>
                        </a:rPr>
                        <a:t>Gemini 2.5 Flash</a:t>
                      </a:r>
                    </a:p>
                  </a:txBody>
                  <a:tcPr marL="73152" marR="73152" marT="27432" marB="27432" anchor="ctr">
                    <a:solidFill>
                      <a:srgbClr val="FFFFFF"/>
                    </a:solidFill>
                  </a:tcPr>
                </a:tc>
                <a:tc>
                  <a:txBody>
                    <a:bodyPr wrap="square"/>
                    <a:lstStyle/>
                    <a:p>
                      <a:r>
                        <a:rPr sz="1050" b="0" i="0">
                          <a:solidFill>
                            <a:srgbClr val="202124"/>
                          </a:solidFill>
                          <a:latin typeface="Google Sans Flex"/>
                          <a:ea typeface="Google Sans Flex"/>
                          <a:cs typeface="Google Sans Flex"/>
                        </a:rPr>
                        <a:t>Safety classification of what is said</a:t>
                      </a:r>
                    </a:p>
                  </a:txBody>
                  <a:tcPr marL="73152" marR="73152" marT="27432" marB="27432" anchor="ctr">
                    <a:solidFill>
                      <a:srgbClr val="FFFFFF"/>
                    </a:solidFill>
                  </a:tcPr>
                </a:tc>
              </a:tr>
              <a:tr h="329184">
                <a:tc>
                  <a:txBody>
                    <a:bodyPr wrap="square"/>
                    <a:lstStyle/>
                    <a:p>
                      <a:r>
                        <a:rPr sz="1050" b="1" i="0">
                          <a:solidFill>
                            <a:srgbClr val="202124"/>
                          </a:solidFill>
                          <a:latin typeface="Google Sans Flex"/>
                          <a:ea typeface="Google Sans Flex"/>
                          <a:cs typeface="Google Sans Flex"/>
                        </a:rPr>
                        <a:t>Gemini 2.5 Flash-Lite</a:t>
                      </a:r>
                    </a:p>
                  </a:txBody>
                  <a:tcPr marL="73152" marR="73152" marT="27432" marB="27432" anchor="ctr">
                    <a:solidFill>
                      <a:srgbClr val="F1F3F4"/>
                    </a:solidFill>
                  </a:tcPr>
                </a:tc>
                <a:tc>
                  <a:txBody>
                    <a:bodyPr wrap="square"/>
                    <a:lstStyle/>
                    <a:p>
                      <a:r>
                        <a:rPr sz="1050" b="0" i="0">
                          <a:solidFill>
                            <a:srgbClr val="202124"/>
                          </a:solidFill>
                          <a:latin typeface="Google Sans Flex"/>
                          <a:ea typeface="Google Sans Flex"/>
                          <a:cs typeface="Google Sans Flex"/>
                        </a:rPr>
                        <a:t>Low-cost English captions (display only)</a:t>
                      </a:r>
                    </a:p>
                  </a:txBody>
                  <a:tcPr marL="73152" marR="73152" marT="27432" marB="27432" anchor="ctr">
                    <a:solidFill>
                      <a:srgbClr val="F1F3F4"/>
                    </a:solidFill>
                  </a:tcPr>
                </a:tc>
              </a:tr>
              <a:tr h="329184">
                <a:tc>
                  <a:txBody>
                    <a:bodyPr wrap="square"/>
                    <a:lstStyle/>
                    <a:p>
                      <a:r>
                        <a:rPr sz="1050" b="1" i="0">
                          <a:solidFill>
                            <a:srgbClr val="202124"/>
                          </a:solidFill>
                          <a:latin typeface="Google Sans Flex"/>
                          <a:ea typeface="Google Sans Flex"/>
                          <a:cs typeface="Google Sans Flex"/>
                        </a:rPr>
                        <a:t>Gemini Embedding</a:t>
                      </a:r>
                    </a:p>
                  </a:txBody>
                  <a:tcPr marL="73152" marR="73152" marT="27432" marB="27432" anchor="ctr">
                    <a:solidFill>
                      <a:srgbClr val="FFFFFF"/>
                    </a:solidFill>
                  </a:tcPr>
                </a:tc>
                <a:tc>
                  <a:txBody>
                    <a:bodyPr wrap="square"/>
                    <a:lstStyle/>
                    <a:p>
                      <a:r>
                        <a:rPr sz="1050" b="0" i="0">
                          <a:solidFill>
                            <a:srgbClr val="202124"/>
                          </a:solidFill>
                          <a:latin typeface="Google Sans Flex"/>
                          <a:ea typeface="Google Sans Flex"/>
                          <a:cs typeface="Google Sans Flex"/>
                        </a:rPr>
                        <a:t>Meaning-based catalogue search, Hindi and English</a:t>
                      </a:r>
                    </a:p>
                  </a:txBody>
                  <a:tcPr marL="73152" marR="73152" marT="27432" marB="27432" anchor="ctr">
                    <a:solidFill>
                      <a:srgbClr val="FFFFFF"/>
                    </a:solidFill>
                  </a:tcPr>
                </a:tc>
              </a:tr>
              <a:tr h="329184">
                <a:tc>
                  <a:txBody>
                    <a:bodyPr wrap="square"/>
                    <a:lstStyle/>
                    <a:p>
                      <a:r>
                        <a:rPr sz="1050" b="1" i="0">
                          <a:solidFill>
                            <a:srgbClr val="202124"/>
                          </a:solidFill>
                          <a:latin typeface="Google Sans Flex"/>
                          <a:ea typeface="Google Sans Flex"/>
                          <a:cs typeface="Google Sans Flex"/>
                        </a:rPr>
                        <a:t>Vertex AI + Gen AI SDK</a:t>
                      </a:r>
                    </a:p>
                  </a:txBody>
                  <a:tcPr marL="73152" marR="73152" marT="27432" marB="27432" anchor="ctr">
                    <a:solidFill>
                      <a:srgbClr val="F1F3F4"/>
                    </a:solidFill>
                  </a:tcPr>
                </a:tc>
                <a:tc>
                  <a:txBody>
                    <a:bodyPr wrap="square"/>
                    <a:lstStyle/>
                    <a:p>
                      <a:r>
                        <a:rPr sz="1050" b="0" i="0">
                          <a:solidFill>
                            <a:srgbClr val="202124"/>
                          </a:solidFill>
                          <a:latin typeface="Google Sans Flex"/>
                          <a:ea typeface="Google Sans Flex"/>
                          <a:cs typeface="Google Sans Flex"/>
                        </a:rPr>
                        <a:t>Model access with project-scoped credentials</a:t>
                      </a:r>
                    </a:p>
                  </a:txBody>
                  <a:tcPr marL="73152" marR="73152" marT="27432" marB="27432" anchor="ctr">
                    <a:solidFill>
                      <a:srgbClr val="F1F3F4"/>
                    </a:solidFill>
                  </a:tcPr>
                </a:tc>
              </a:tr>
              <a:tr h="329184">
                <a:tc>
                  <a:txBody>
                    <a:bodyPr wrap="square"/>
                    <a:lstStyle/>
                    <a:p>
                      <a:r>
                        <a:rPr sz="1050" b="1" i="0">
                          <a:solidFill>
                            <a:srgbClr val="202124"/>
                          </a:solidFill>
                          <a:latin typeface="Google Sans Flex"/>
                          <a:ea typeface="Google Sans Flex"/>
                          <a:cs typeface="Google Sans Flex"/>
                        </a:rPr>
                        <a:t>Cloud Run + Artifact Registry</a:t>
                      </a:r>
                    </a:p>
                  </a:txBody>
                  <a:tcPr marL="73152" marR="73152" marT="27432" marB="27432" anchor="ctr">
                    <a:solidFill>
                      <a:srgbClr val="FFFFFF"/>
                    </a:solidFill>
                  </a:tcPr>
                </a:tc>
                <a:tc>
                  <a:txBody>
                    <a:bodyPr wrap="square"/>
                    <a:lstStyle/>
                    <a:p>
                      <a:r>
                        <a:rPr sz="1050" b="0" i="0">
                          <a:solidFill>
                            <a:srgbClr val="202124"/>
                          </a:solidFill>
                          <a:latin typeface="Google Sans Flex"/>
                          <a:ea typeface="Google Sans Flex"/>
                          <a:cs typeface="Google Sans Flex"/>
                        </a:rPr>
                        <a:t>Hosts and ships the two services</a:t>
                      </a:r>
                    </a:p>
                  </a:txBody>
                  <a:tcPr marL="73152" marR="73152" marT="27432" marB="27432" anchor="ctr">
                    <a:solidFill>
                      <a:srgbClr val="FFFFFF"/>
                    </a:solidFill>
                  </a:tcPr>
                </a:tc>
              </a:tr>
              <a:tr h="329184">
                <a:tc>
                  <a:txBody>
                    <a:bodyPr wrap="square"/>
                    <a:lstStyle/>
                    <a:p>
                      <a:r>
                        <a:rPr sz="1050" b="1" i="0">
                          <a:solidFill>
                            <a:srgbClr val="202124"/>
                          </a:solidFill>
                          <a:latin typeface="Google Sans Flex"/>
                          <a:ea typeface="Google Sans Flex"/>
                          <a:cs typeface="Google Sans Flex"/>
                        </a:rPr>
                        <a:t>Cloud Firestore</a:t>
                      </a:r>
                    </a:p>
                  </a:txBody>
                  <a:tcPr marL="73152" marR="73152" marT="27432" marB="27432" anchor="ctr">
                    <a:solidFill>
                      <a:srgbClr val="F1F3F4"/>
                    </a:solidFill>
                  </a:tcPr>
                </a:tc>
                <a:tc>
                  <a:txBody>
                    <a:bodyPr wrap="square"/>
                    <a:lstStyle/>
                    <a:p>
                      <a:r>
                        <a:rPr sz="1050" b="0" i="0">
                          <a:solidFill>
                            <a:srgbClr val="202124"/>
                          </a:solidFill>
                          <a:latin typeface="Google Sans Flex"/>
                          <a:ea typeface="Google Sans Flex"/>
                          <a:cs typeface="Google Sans Flex"/>
                        </a:rPr>
                        <a:t>Session state when running in the cloud</a:t>
                      </a:r>
                    </a:p>
                  </a:txBody>
                  <a:tcPr marL="73152" marR="73152" marT="27432" marB="27432" anchor="ctr">
                    <a:solidFill>
                      <a:srgbClr val="F1F3F4"/>
                    </a:solidFill>
                  </a:tcPr>
                </a:tc>
              </a:tr>
              <a:tr h="329184">
                <a:tc>
                  <a:txBody>
                    <a:bodyPr wrap="square"/>
                    <a:lstStyle/>
                    <a:p>
                      <a:r>
                        <a:rPr sz="1050" b="1" i="0">
                          <a:solidFill>
                            <a:srgbClr val="202124"/>
                          </a:solidFill>
                          <a:latin typeface="Google Sans Flex"/>
                          <a:ea typeface="Google Sans Flex"/>
                          <a:cs typeface="Google Sans Flex"/>
                        </a:rPr>
                        <a:t>Firebase Hosting</a:t>
                      </a:r>
                    </a:p>
                  </a:txBody>
                  <a:tcPr marL="73152" marR="73152" marT="27432" marB="27432" anchor="ctr">
                    <a:solidFill>
                      <a:srgbClr val="FFFFFF"/>
                    </a:solidFill>
                  </a:tcPr>
                </a:tc>
                <a:tc>
                  <a:txBody>
                    <a:bodyPr wrap="square"/>
                    <a:lstStyle/>
                    <a:p>
                      <a:r>
                        <a:rPr sz="1050" b="0" i="0">
                          <a:solidFill>
                            <a:srgbClr val="202124"/>
                          </a:solidFill>
                          <a:latin typeface="Google Sans Flex"/>
                          <a:ea typeface="Google Sans Flex"/>
                          <a:cs typeface="Google Sans Flex"/>
                        </a:rPr>
                        <a:t>Serves the shop app, routes API calls</a:t>
                      </a:r>
                    </a:p>
                  </a:txBody>
                  <a:tcPr marL="73152" marR="73152" marT="27432" marB="27432" anchor="ctr">
                    <a:solidFill>
                      <a:srgbClr val="FFFFFF"/>
                    </a:solidFill>
                  </a:tcPr>
                </a:tc>
              </a:tr>
            </a:tbl>
          </a:graphicData>
        </a:graphic>
      </p:graphicFrame>
      <p:sp>
        <p:nvSpPr>
          <p:cNvPr id="121" name="Rounded Rectangle 120"/>
          <p:cNvSpPr/>
          <p:nvPr/>
        </p:nvSpPr>
        <p:spPr>
          <a:xfrm>
            <a:off x="5897880" y="1188720"/>
            <a:ext cx="2834640" cy="3291840"/>
          </a:xfrm>
          <a:prstGeom prst="roundRect">
            <a:avLst>
              <a:gd name="adj" fmla="val 6000"/>
            </a:avLst>
          </a:prstGeom>
          <a:solidFill>
            <a:srgbClr val="F1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2" name="TextBox 121"/>
          <p:cNvSpPr txBox="1"/>
          <p:nvPr/>
        </p:nvSpPr>
        <p:spPr>
          <a:xfrm>
            <a:off x="5989320" y="1234440"/>
            <a:ext cx="2651760" cy="274320"/>
          </a:xfrm>
          <a:prstGeom prst="rect">
            <a:avLst/>
          </a:prstGeom>
          <a:noFill/>
        </p:spPr>
        <p:txBody>
          <a:bodyPr wrap="square" lIns="36576" rIns="36576" tIns="36576" bIns="36576" anchor="t">
            <a:spAutoFit/>
          </a:bodyPr>
          <a:lstStyle/>
          <a:p>
            <a:pPr algn="l">
              <a:spcAft>
                <a:spcPts val="300"/>
              </a:spcAft>
            </a:pPr>
            <a:r>
              <a:rPr sz="1150" b="1" i="0">
                <a:solidFill>
                  <a:srgbClr val="202124"/>
                </a:solidFill>
                <a:latin typeface="Google Sans Flex"/>
                <a:ea typeface="Google Sans Flex"/>
                <a:cs typeface="Google Sans Flex"/>
              </a:rPr>
              <a:t>Open standards and frameworks</a:t>
            </a:r>
          </a:p>
        </p:txBody>
      </p:sp>
      <p:sp>
        <p:nvSpPr>
          <p:cNvPr id="123" name="TextBox 122"/>
          <p:cNvSpPr txBox="1"/>
          <p:nvPr/>
        </p:nvSpPr>
        <p:spPr>
          <a:xfrm>
            <a:off x="5989320" y="1554480"/>
            <a:ext cx="2651760" cy="2926080"/>
          </a:xfrm>
          <a:prstGeom prst="rect">
            <a:avLst/>
          </a:prstGeom>
          <a:noFill/>
        </p:spPr>
        <p:txBody>
          <a:bodyPr wrap="square" lIns="36576" rIns="36576" tIns="36576" bIns="36576" anchor="t">
            <a:spAutoFit/>
          </a:bodyPr>
          <a:lstStyle/>
          <a:p>
            <a:pPr algn="l" marL="160000" indent="-160000">
              <a:spcAft>
                <a:spcPts val="400"/>
              </a:spcAft>
              <a:buChar char="•"/>
            </a:pPr>
            <a:r>
              <a:rPr sz="1050" b="0" i="0">
                <a:solidFill>
                  <a:srgbClr val="202124"/>
                </a:solidFill>
                <a:latin typeface="Google Sans Flex"/>
                <a:ea typeface="Google Sans Flex"/>
                <a:cs typeface="Google Sans Flex"/>
              </a:rPr>
              <a:t>UCP 2026-08-25: catalogue, cart, checkout</a:t>
            </a:r>
          </a:p>
          <a:p>
            <a:pPr algn="l" marL="160000" indent="-160000">
              <a:spcAft>
                <a:spcPts val="400"/>
              </a:spcAft>
              <a:buChar char="•"/>
            </a:pPr>
            <a:r>
              <a:rPr sz="1050" b="0" i="0">
                <a:solidFill>
                  <a:srgbClr val="202124"/>
                </a:solidFill>
                <a:latin typeface="Google Sans Flex"/>
                <a:ea typeface="Google Sans Flex"/>
                <a:cs typeface="Google Sans Flex"/>
              </a:rPr>
              <a:t>AP2 mandates, ES256 signed, test mode</a:t>
            </a:r>
          </a:p>
          <a:p>
            <a:pPr algn="l" marL="160000" indent="-160000">
              <a:spcAft>
                <a:spcPts val="400"/>
              </a:spcAft>
              <a:buChar char="•"/>
            </a:pPr>
            <a:r>
              <a:rPr sz="1050" b="0" i="0">
                <a:solidFill>
                  <a:srgbClr val="202124"/>
                </a:solidFill>
                <a:latin typeface="Google Sans Flex"/>
                <a:ea typeface="Google Sans Flex"/>
                <a:cs typeface="Google Sans Flex"/>
              </a:rPr>
              <a:t>WebAuthn fingerprint approval</a:t>
            </a:r>
          </a:p>
          <a:p>
            <a:pPr algn="l" marL="160000" indent="-160000">
              <a:spcAft>
                <a:spcPts val="400"/>
              </a:spcAft>
              <a:buChar char="•"/>
            </a:pPr>
            <a:r>
              <a:rPr sz="1050" b="0" i="0">
                <a:solidFill>
                  <a:srgbClr val="202124"/>
                </a:solidFill>
                <a:latin typeface="Google Sans Flex"/>
                <a:ea typeface="Google Sans Flex"/>
                <a:cs typeface="Google Sans Flex"/>
              </a:rPr>
              <a:t>Python 3.12, FastAPI, Pydantic</a:t>
            </a:r>
          </a:p>
          <a:p>
            <a:pPr algn="l" marL="160000" indent="-160000">
              <a:spcAft>
                <a:spcPts val="400"/>
              </a:spcAft>
              <a:buChar char="•"/>
            </a:pPr>
            <a:r>
              <a:rPr sz="1050" b="0" i="0">
                <a:solidFill>
                  <a:srgbClr val="202124"/>
                </a:solidFill>
                <a:latin typeface="Google Sans Flex"/>
                <a:ea typeface="Google Sans Flex"/>
                <a:cs typeface="Google Sans Flex"/>
              </a:rPr>
              <a:t>TypeScript, Lit web component, React</a:t>
            </a:r>
          </a:p>
          <a:p>
            <a:pPr algn="l" marL="160000" indent="-160000">
              <a:spcAft>
                <a:spcPts val="400"/>
              </a:spcAft>
              <a:buChar char="•"/>
            </a:pPr>
            <a:r>
              <a:rPr sz="1050" b="0" i="0">
                <a:solidFill>
                  <a:srgbClr val="202124"/>
                </a:solidFill>
                <a:latin typeface="Google Sans Flex"/>
                <a:ea typeface="Google Sans Flex"/>
                <a:cs typeface="Google Sans Flex"/>
              </a:rPr>
              <a:t>Web Audio and WebSocket streaming</a:t>
            </a:r>
          </a:p>
          <a:p>
            <a:pPr algn="l" marL="160000" indent="-160000">
              <a:spcAft>
                <a:spcPts val="400"/>
              </a:spcAft>
              <a:buChar char="•"/>
            </a:pPr>
            <a:r>
              <a:rPr sz="1050" b="0" i="0">
                <a:solidFill>
                  <a:srgbClr val="202124"/>
                </a:solidFill>
                <a:latin typeface="Google Sans Flex"/>
                <a:ea typeface="Google Sans Flex"/>
                <a:cs typeface="Google Sans Flex"/>
              </a:rPr>
              <a:t>JSON Schemas shared by Python and TypeScript</a:t>
            </a:r>
          </a:p>
          <a:p>
            <a:pPr algn="l" marL="160000" indent="-160000">
              <a:spcAft>
                <a:spcPts val="400"/>
              </a:spcAft>
              <a:buChar char="•"/>
            </a:pPr>
            <a:r>
              <a:rPr sz="1050" b="0" i="0">
                <a:solidFill>
                  <a:srgbClr val="202124"/>
                </a:solidFill>
                <a:latin typeface="Google Sans Flex"/>
                <a:ea typeface="Google Sans Flex"/>
                <a:cs typeface="Google Sans Flex"/>
              </a:rPr>
              <a:t>Open Food Facts catalogue: 525 products (ODbL, CC BY-SA)</a:t>
            </a:r>
          </a:p>
        </p:txBody>
      </p:sp>
      <p:sp>
        <p:nvSpPr>
          <p:cNvPr id="124" name="TextBox 123"/>
          <p:cNvSpPr txBox="1"/>
          <p:nvPr/>
        </p:nvSpPr>
        <p:spPr>
          <a:xfrm>
            <a:off x="411480" y="4572000"/>
            <a:ext cx="8321040" cy="274320"/>
          </a:xfrm>
          <a:prstGeom prst="rect">
            <a:avLst/>
          </a:prstGeom>
          <a:noFill/>
        </p:spPr>
        <p:txBody>
          <a:bodyPr wrap="square" lIns="36576" rIns="36576" tIns="36576" bIns="36576" anchor="t">
            <a:spAutoFit/>
          </a:bodyPr>
          <a:lstStyle/>
          <a:p>
            <a:pPr algn="l">
              <a:spcAft>
                <a:spcPts val="300"/>
              </a:spcAft>
            </a:pPr>
            <a:r>
              <a:rPr sz="1000" b="0" i="0">
                <a:solidFill>
                  <a:srgbClr val="5F6368"/>
                </a:solidFill>
                <a:latin typeface="Google Sans Flex"/>
                <a:ea typeface="Google Sans Flex"/>
                <a:cs typeface="Google Sans Flex"/>
              </a:rPr>
              <a:t>Nine Google Cloud products power TalkToBuy, each behind an interface we own.</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2"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25" name="Google Shape;125;p22"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26" name="Google Shape;126;p22"/>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7" name="Google Shape;127;p22"/>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Estimated implementation cost (optional)</a:t>
            </a:r>
            <a:endParaRPr sz="1600">
              <a:latin typeface="Google Sans Flex Medium"/>
              <a:ea typeface="Google Sans Flex Medium"/>
              <a:cs typeface="Google Sans Flex Medium"/>
              <a:sym typeface="Google Sans Flex Medium"/>
            </a:endParaRPr>
          </a:p>
        </p:txBody>
      </p:sp>
      <p:sp>
        <p:nvSpPr>
          <p:cNvPr id="128" name="Rounded Rectangle 127"/>
          <p:cNvSpPr/>
          <p:nvPr/>
        </p:nvSpPr>
        <p:spPr>
          <a:xfrm>
            <a:off x="411480" y="1188720"/>
            <a:ext cx="2697480" cy="86868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extBox 128"/>
          <p:cNvSpPr txBox="1"/>
          <p:nvPr/>
        </p:nvSpPr>
        <p:spPr>
          <a:xfrm>
            <a:off x="502920" y="1216152"/>
            <a:ext cx="2514600" cy="365760"/>
          </a:xfrm>
          <a:prstGeom prst="rect">
            <a:avLst/>
          </a:prstGeom>
          <a:noFill/>
        </p:spPr>
        <p:txBody>
          <a:bodyPr wrap="square" lIns="36576" rIns="36576" tIns="36576" bIns="36576" anchor="t">
            <a:spAutoFit/>
          </a:bodyPr>
          <a:lstStyle/>
          <a:p>
            <a:pPr algn="l">
              <a:spcAft>
                <a:spcPts val="300"/>
              </a:spcAft>
            </a:pPr>
            <a:r>
              <a:rPr sz="2000" b="1" i="0">
                <a:solidFill>
                  <a:srgbClr val="B06000"/>
                </a:solidFill>
                <a:latin typeface="Google Sans Flex"/>
                <a:ea typeface="Google Sans Flex"/>
                <a:cs typeface="Google Sans Flex"/>
              </a:rPr>
              <a:t>$0.01–0.04</a:t>
            </a:r>
          </a:p>
        </p:txBody>
      </p:sp>
      <p:sp>
        <p:nvSpPr>
          <p:cNvPr id="130" name="TextBox 129"/>
          <p:cNvSpPr txBox="1"/>
          <p:nvPr/>
        </p:nvSpPr>
        <p:spPr>
          <a:xfrm>
            <a:off x="502920" y="1572768"/>
            <a:ext cx="2514600"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per voice session in our test runs</a:t>
            </a:r>
          </a:p>
        </p:txBody>
      </p:sp>
      <p:sp>
        <p:nvSpPr>
          <p:cNvPr id="131" name="Rounded Rectangle 130"/>
          <p:cNvSpPr/>
          <p:nvPr/>
        </p:nvSpPr>
        <p:spPr>
          <a:xfrm>
            <a:off x="3223260" y="1188720"/>
            <a:ext cx="2697480" cy="8686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2" name="TextBox 131"/>
          <p:cNvSpPr txBox="1"/>
          <p:nvPr/>
        </p:nvSpPr>
        <p:spPr>
          <a:xfrm>
            <a:off x="3314700" y="1216152"/>
            <a:ext cx="2514600" cy="365760"/>
          </a:xfrm>
          <a:prstGeom prst="rect">
            <a:avLst/>
          </a:prstGeom>
          <a:noFill/>
        </p:spPr>
        <p:txBody>
          <a:bodyPr wrap="square" lIns="36576" rIns="36576" tIns="36576" bIns="36576" anchor="t">
            <a:spAutoFit/>
          </a:bodyPr>
          <a:lstStyle/>
          <a:p>
            <a:pPr algn="l">
              <a:spcAft>
                <a:spcPts val="300"/>
              </a:spcAft>
            </a:pPr>
            <a:r>
              <a:rPr sz="2000" b="1" i="0">
                <a:solidFill>
                  <a:srgbClr val="1A73E8"/>
                </a:solidFill>
                <a:latin typeface="Google Sans Flex"/>
                <a:ea typeface="Google Sans Flex"/>
                <a:cs typeface="Google Sans Flex"/>
              </a:rPr>
              <a:t>10 min</a:t>
            </a:r>
          </a:p>
        </p:txBody>
      </p:sp>
      <p:sp>
        <p:nvSpPr>
          <p:cNvPr id="133" name="TextBox 132"/>
          <p:cNvSpPr txBox="1"/>
          <p:nvPr/>
        </p:nvSpPr>
        <p:spPr>
          <a:xfrm>
            <a:off x="3314700" y="1572768"/>
            <a:ext cx="2514600"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hard cap per session, plus an idle timeout</a:t>
            </a:r>
          </a:p>
        </p:txBody>
      </p:sp>
      <p:sp>
        <p:nvSpPr>
          <p:cNvPr id="134" name="Rounded Rectangle 133"/>
          <p:cNvSpPr/>
          <p:nvPr/>
        </p:nvSpPr>
        <p:spPr>
          <a:xfrm>
            <a:off x="6035040" y="1188720"/>
            <a:ext cx="2697480" cy="86868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extBox 134"/>
          <p:cNvSpPr txBox="1"/>
          <p:nvPr/>
        </p:nvSpPr>
        <p:spPr>
          <a:xfrm>
            <a:off x="6126480" y="1216152"/>
            <a:ext cx="2514600" cy="365760"/>
          </a:xfrm>
          <a:prstGeom prst="rect">
            <a:avLst/>
          </a:prstGeom>
          <a:noFill/>
        </p:spPr>
        <p:txBody>
          <a:bodyPr wrap="square" lIns="36576" rIns="36576" tIns="36576" bIns="36576" anchor="t">
            <a:spAutoFit/>
          </a:bodyPr>
          <a:lstStyle/>
          <a:p>
            <a:pPr algn="l">
              <a:spcAft>
                <a:spcPts val="300"/>
              </a:spcAft>
            </a:pPr>
            <a:r>
              <a:rPr sz="2000" b="1" i="0">
                <a:solidFill>
                  <a:srgbClr val="188038"/>
                </a:solidFill>
                <a:latin typeface="Google Sans Flex"/>
                <a:ea typeface="Google Sans Flex"/>
                <a:cs typeface="Google Sans Flex"/>
              </a:rPr>
              <a:t>0</a:t>
            </a:r>
          </a:p>
        </p:txBody>
      </p:sp>
      <p:sp>
        <p:nvSpPr>
          <p:cNvPr id="136" name="TextBox 135"/>
          <p:cNvSpPr txBox="1"/>
          <p:nvPr/>
        </p:nvSpPr>
        <p:spPr>
          <a:xfrm>
            <a:off x="6126480" y="1572768"/>
            <a:ext cx="2514600"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models trained or hosted by us: managed Google services only</a:t>
            </a:r>
          </a:p>
        </p:txBody>
      </p:sp>
      <p:graphicFrame>
        <p:nvGraphicFramePr>
          <p:cNvPr id="137" name="Table 136"/>
          <p:cNvGraphicFramePr>
            <a:graphicFrameLocks noGrp="1"/>
          </p:cNvGraphicFramePr>
          <p:nvPr/>
        </p:nvGraphicFramePr>
        <p:xfrm>
          <a:off x="411480" y="2240280"/>
          <a:ext cx="8321040" cy="2560320"/>
        </p:xfrm>
        <a:graphic>
          <a:graphicData uri="http://schemas.openxmlformats.org/drawingml/2006/table">
            <a:tbl>
              <a:tblPr firstRow="1" bandRow="1">
                <a:tableStyleId>{5C22544A-7EE6-4342-B048-85BDC9FD1C3A}</a:tableStyleId>
              </a:tblPr>
              <a:tblGrid>
                <a:gridCol w="2468880"/>
                <a:gridCol w="2377440"/>
                <a:gridCol w="3474720"/>
              </a:tblGrid>
              <a:tr h="365760">
                <a:tc>
                  <a:txBody>
                    <a:bodyPr/>
                    <a:lstStyle/>
                    <a:p>
                      <a:r>
                        <a:rPr sz="1050" b="1" i="0">
                          <a:solidFill>
                            <a:srgbClr val="FFFFFF"/>
                          </a:solidFill>
                          <a:latin typeface="Google Sans Flex"/>
                          <a:ea typeface="Google Sans Flex"/>
                          <a:cs typeface="Google Sans Flex"/>
                        </a:rPr>
                        <a:t>Cost driver</a:t>
                      </a:r>
                    </a:p>
                  </a:txBody>
                  <a:tcPr marL="73152" marR="73152" marT="27432" marB="27432" anchor="ctr">
                    <a:solidFill>
                      <a:srgbClr val="202124"/>
                    </a:solidFill>
                  </a:tcPr>
                </a:tc>
                <a:tc>
                  <a:txBody>
                    <a:bodyPr/>
                    <a:lstStyle/>
                    <a:p>
                      <a:r>
                        <a:rPr sz="1050" b="1" i="0">
                          <a:solidFill>
                            <a:srgbClr val="FFFFFF"/>
                          </a:solidFill>
                          <a:latin typeface="Google Sans Flex"/>
                          <a:ea typeface="Google Sans Flex"/>
                          <a:cs typeface="Google Sans Flex"/>
                        </a:rPr>
                        <a:t>How it is charged</a:t>
                      </a:r>
                    </a:p>
                  </a:txBody>
                  <a:tcPr marL="73152" marR="73152" marT="27432" marB="27432" anchor="ctr">
                    <a:solidFill>
                      <a:srgbClr val="202124"/>
                    </a:solidFill>
                  </a:tcPr>
                </a:tc>
                <a:tc>
                  <a:txBody>
                    <a:bodyPr/>
                    <a:lstStyle/>
                    <a:p>
                      <a:r>
                        <a:rPr sz="1050" b="1" i="0">
                          <a:solidFill>
                            <a:srgbClr val="FFFFFF"/>
                          </a:solidFill>
                          <a:latin typeface="Google Sans Flex"/>
                          <a:ea typeface="Google Sans Flex"/>
                          <a:cs typeface="Google Sans Flex"/>
                        </a:rPr>
                        <a:t>Our estimate</a:t>
                      </a:r>
                    </a:p>
                  </a:txBody>
                  <a:tcPr marL="73152" marR="73152" marT="27432" marB="27432" anchor="ctr">
                    <a:solidFill>
                      <a:srgbClr val="202124"/>
                    </a:solidFill>
                  </a:tcPr>
                </a:tc>
              </a:tr>
              <a:tr h="365760">
                <a:tc>
                  <a:txBody>
                    <a:bodyPr/>
                    <a:lstStyle/>
                    <a:p>
                      <a:r>
                        <a:rPr sz="1050" b="1" i="0">
                          <a:solidFill>
                            <a:srgbClr val="202124"/>
                          </a:solidFill>
                          <a:latin typeface="Google Sans Flex"/>
                          <a:ea typeface="Google Sans Flex"/>
                          <a:cs typeface="Google Sans Flex"/>
                        </a:rPr>
                        <a:t>Gemini Live voice and tool calls</a:t>
                      </a:r>
                    </a:p>
                  </a:txBody>
                  <a:tcPr marL="73152" marR="73152" marT="27432" marB="27432" anchor="ctr">
                    <a:solidFill>
                      <a:srgbClr val="FFFFFF"/>
                    </a:solidFill>
                  </a:tcPr>
                </a:tc>
                <a:tc>
                  <a:txBody>
                    <a:bodyPr/>
                    <a:lstStyle/>
                    <a:p>
                      <a:r>
                        <a:rPr sz="1050" b="0" i="0">
                          <a:solidFill>
                            <a:srgbClr val="202124"/>
                          </a:solidFill>
                          <a:latin typeface="Google Sans Flex"/>
                          <a:ea typeface="Google Sans Flex"/>
                          <a:cs typeface="Google Sans Flex"/>
                        </a:rPr>
                        <a:t>Per audio minute and tokens</a:t>
                      </a:r>
                    </a:p>
                  </a:txBody>
                  <a:tcPr marL="73152" marR="73152" marT="27432" marB="27432" anchor="ctr">
                    <a:solidFill>
                      <a:srgbClr val="FFFFFF"/>
                    </a:solidFill>
                  </a:tcPr>
                </a:tc>
                <a:tc>
                  <a:txBody>
                    <a:bodyPr/>
                    <a:lstStyle/>
                    <a:p>
                      <a:r>
                        <a:rPr sz="1050" b="0" i="0">
                          <a:solidFill>
                            <a:srgbClr val="202124"/>
                          </a:solidFill>
                          <a:latin typeface="Google Sans Flex"/>
                          <a:ea typeface="Google Sans Flex"/>
                          <a:cs typeface="Google Sans Flex"/>
                        </a:rPr>
                        <a:t>$0.01–0.04 per session, measured in test runs</a:t>
                      </a:r>
                    </a:p>
                  </a:txBody>
                  <a:tcPr marL="73152" marR="73152" marT="27432" marB="27432" anchor="ctr">
                    <a:solidFill>
                      <a:srgbClr val="FFFFFF"/>
                    </a:solidFill>
                  </a:tcPr>
                </a:tc>
              </a:tr>
              <a:tr h="365760">
                <a:tc>
                  <a:txBody>
                    <a:bodyPr/>
                    <a:lstStyle/>
                    <a:p>
                      <a:r>
                        <a:rPr sz="1050" b="1" i="0">
                          <a:solidFill>
                            <a:srgbClr val="202124"/>
                          </a:solidFill>
                          <a:latin typeface="Google Sans Flex"/>
                          <a:ea typeface="Google Sans Flex"/>
                          <a:cs typeface="Google Sans Flex"/>
                        </a:rPr>
                        <a:t>Live Avatar video (optional)</a:t>
                      </a:r>
                    </a:p>
                  </a:txBody>
                  <a:tcPr marL="73152" marR="73152" marT="27432" marB="27432" anchor="ctr">
                    <a:solidFill>
                      <a:srgbClr val="F1F3F4"/>
                    </a:solidFill>
                  </a:tcPr>
                </a:tc>
                <a:tc>
                  <a:txBody>
                    <a:bodyPr/>
                    <a:lstStyle/>
                    <a:p>
                      <a:r>
                        <a:rPr sz="1050" b="0" i="0">
                          <a:solidFill>
                            <a:srgbClr val="202124"/>
                          </a:solidFill>
                          <a:latin typeface="Google Sans Flex"/>
                          <a:ea typeface="Google Sans Flex"/>
                          <a:cs typeface="Google Sans Flex"/>
                        </a:rPr>
                        <a:t>Per video; rate not yet published</a:t>
                      </a:r>
                    </a:p>
                  </a:txBody>
                  <a:tcPr marL="73152" marR="73152" marT="27432" marB="27432" anchor="ctr">
                    <a:solidFill>
                      <a:srgbClr val="F1F3F4"/>
                    </a:solidFill>
                  </a:tcPr>
                </a:tc>
                <a:tc>
                  <a:txBody>
                    <a:bodyPr/>
                    <a:lstStyle/>
                    <a:p>
                      <a:r>
                        <a:rPr sz="1050" b="0" i="0">
                          <a:solidFill>
                            <a:srgbClr val="202124"/>
                          </a:solidFill>
                          <a:latin typeface="Google Sans Flex"/>
                          <a:ea typeface="Google Sans Flex"/>
                          <a:cs typeface="Google Sans Flex"/>
                        </a:rPr>
                        <a:t>Off by default, so not in the estimate</a:t>
                      </a:r>
                    </a:p>
                  </a:txBody>
                  <a:tcPr marL="73152" marR="73152" marT="27432" marB="27432" anchor="ctr">
                    <a:solidFill>
                      <a:srgbClr val="F1F3F4"/>
                    </a:solidFill>
                  </a:tcPr>
                </a:tc>
              </a:tr>
              <a:tr h="365760">
                <a:tc>
                  <a:txBody>
                    <a:bodyPr/>
                    <a:lstStyle/>
                    <a:p>
                      <a:r>
                        <a:rPr sz="1050" b="1" i="0">
                          <a:solidFill>
                            <a:srgbClr val="202124"/>
                          </a:solidFill>
                          <a:latin typeface="Google Sans Flex"/>
                          <a:ea typeface="Google Sans Flex"/>
                          <a:cs typeface="Google Sans Flex"/>
                        </a:rPr>
                        <a:t>Gemini 2.5 Flash and Flash-Lite</a:t>
                      </a:r>
                    </a:p>
                  </a:txBody>
                  <a:tcPr marL="73152" marR="73152" marT="27432" marB="27432" anchor="ctr">
                    <a:solidFill>
                      <a:srgbClr val="FFFFFF"/>
                    </a:solidFill>
                  </a:tcPr>
                </a:tc>
                <a:tc>
                  <a:txBody>
                    <a:bodyPr/>
                    <a:lstStyle/>
                    <a:p>
                      <a:r>
                        <a:rPr sz="1050" b="0" i="0">
                          <a:solidFill>
                            <a:srgbClr val="202124"/>
                          </a:solidFill>
                          <a:latin typeface="Google Sans Flex"/>
                          <a:ea typeface="Google Sans Flex"/>
                          <a:cs typeface="Google Sans Flex"/>
                        </a:rPr>
                        <a:t>Per token, short texts</a:t>
                      </a:r>
                    </a:p>
                  </a:txBody>
                  <a:tcPr marL="73152" marR="73152" marT="27432" marB="27432" anchor="ctr">
                    <a:solidFill>
                      <a:srgbClr val="FFFFFF"/>
                    </a:solidFill>
                  </a:tcPr>
                </a:tc>
                <a:tc>
                  <a:txBody>
                    <a:bodyPr/>
                    <a:lstStyle/>
                    <a:p>
                      <a:r>
                        <a:rPr sz="1050" b="0" i="0">
                          <a:solidFill>
                            <a:srgbClr val="202124"/>
                          </a:solidFill>
                          <a:latin typeface="Google Sans Flex"/>
                          <a:ea typeface="Google Sans Flex"/>
                          <a:cs typeface="Google Sans Flex"/>
                        </a:rPr>
                        <a:t>Tiny per-caption calls, logged per session</a:t>
                      </a:r>
                    </a:p>
                  </a:txBody>
                  <a:tcPr marL="73152" marR="73152" marT="27432" marB="27432" anchor="ctr">
                    <a:solidFill>
                      <a:srgbClr val="FFFFFF"/>
                    </a:solidFill>
                  </a:tcPr>
                </a:tc>
              </a:tr>
              <a:tr h="365760">
                <a:tc>
                  <a:txBody>
                    <a:bodyPr/>
                    <a:lstStyle/>
                    <a:p>
                      <a:r>
                        <a:rPr sz="1050" b="1" i="0">
                          <a:solidFill>
                            <a:srgbClr val="202124"/>
                          </a:solidFill>
                          <a:latin typeface="Google Sans Flex"/>
                          <a:ea typeface="Google Sans Flex"/>
                          <a:cs typeface="Google Sans Flex"/>
                        </a:rPr>
                        <a:t>Embeddings</a:t>
                      </a:r>
                    </a:p>
                  </a:txBody>
                  <a:tcPr marL="73152" marR="73152" marT="27432" marB="27432" anchor="ctr">
                    <a:solidFill>
                      <a:srgbClr val="F1F3F4"/>
                    </a:solidFill>
                  </a:tcPr>
                </a:tc>
                <a:tc>
                  <a:txBody>
                    <a:bodyPr/>
                    <a:lstStyle/>
                    <a:p>
                      <a:r>
                        <a:rPr sz="1050" b="0" i="0">
                          <a:solidFill>
                            <a:srgbClr val="202124"/>
                          </a:solidFill>
                          <a:latin typeface="Google Sans Flex"/>
                          <a:ea typeface="Google Sans Flex"/>
                          <a:cs typeface="Google Sans Flex"/>
                        </a:rPr>
                        <a:t>Once, when the catalogue is built</a:t>
                      </a:r>
                    </a:p>
                  </a:txBody>
                  <a:tcPr marL="73152" marR="73152" marT="27432" marB="27432" anchor="ctr">
                    <a:solidFill>
                      <a:srgbClr val="F1F3F4"/>
                    </a:solidFill>
                  </a:tcPr>
                </a:tc>
                <a:tc>
                  <a:txBody>
                    <a:bodyPr/>
                    <a:lstStyle/>
                    <a:p>
                      <a:r>
                        <a:rPr sz="1050" b="0" i="0">
                          <a:solidFill>
                            <a:srgbClr val="202124"/>
                          </a:solidFill>
                          <a:latin typeface="Google Sans Flex"/>
                          <a:ea typeface="Google Sans Flex"/>
                          <a:cs typeface="Google Sans Flex"/>
                        </a:rPr>
                        <a:t>525 products embedded one time</a:t>
                      </a:r>
                    </a:p>
                  </a:txBody>
                  <a:tcPr marL="73152" marR="73152" marT="27432" marB="27432" anchor="ctr">
                    <a:solidFill>
                      <a:srgbClr val="F1F3F4"/>
                    </a:solidFill>
                  </a:tcPr>
                </a:tc>
              </a:tr>
              <a:tr h="365760">
                <a:tc>
                  <a:txBody>
                    <a:bodyPr/>
                    <a:lstStyle/>
                    <a:p>
                      <a:r>
                        <a:rPr sz="1050" b="1" i="0">
                          <a:solidFill>
                            <a:srgbClr val="202124"/>
                          </a:solidFill>
                          <a:latin typeface="Google Sans Flex"/>
                          <a:ea typeface="Google Sans Flex"/>
                          <a:cs typeface="Google Sans Flex"/>
                        </a:rPr>
                        <a:t>Cloud Run, Firestore, Firebase</a:t>
                      </a:r>
                    </a:p>
                  </a:txBody>
                  <a:tcPr marL="73152" marR="73152" marT="27432" marB="27432" anchor="ctr">
                    <a:solidFill>
                      <a:srgbClr val="FFFFFF"/>
                    </a:solidFill>
                  </a:tcPr>
                </a:tc>
                <a:tc>
                  <a:txBody>
                    <a:bodyPr/>
                    <a:lstStyle/>
                    <a:p>
                      <a:r>
                        <a:rPr sz="1050" b="0" i="0">
                          <a:solidFill>
                            <a:srgbClr val="202124"/>
                          </a:solidFill>
                          <a:latin typeface="Google Sans Flex"/>
                          <a:ea typeface="Google Sans Flex"/>
                          <a:cs typeface="Google Sans Flex"/>
                        </a:rPr>
                        <a:t>Pay per use</a:t>
                      </a:r>
                    </a:p>
                  </a:txBody>
                  <a:tcPr marL="73152" marR="73152" marT="27432" marB="27432" anchor="ctr">
                    <a:solidFill>
                      <a:srgbClr val="FFFFFF"/>
                    </a:solidFill>
                  </a:tcPr>
                </a:tc>
                <a:tc>
                  <a:txBody>
                    <a:bodyPr/>
                    <a:lstStyle/>
                    <a:p>
                      <a:r>
                        <a:rPr sz="1050" b="0" i="0">
                          <a:solidFill>
                            <a:srgbClr val="202124"/>
                          </a:solidFill>
                          <a:latin typeface="Google Sans Flex"/>
                          <a:ea typeface="Google Sans Flex"/>
                          <a:cs typeface="Google Sans Flex"/>
                        </a:rPr>
                        <a:t>Small at pilot scale; to be checked against billing</a:t>
                      </a:r>
                    </a:p>
                  </a:txBody>
                  <a:tcPr marL="73152" marR="73152" marT="27432" marB="27432" anchor="ctr">
                    <a:solidFill>
                      <a:srgbClr val="FFFFFF"/>
                    </a:solidFill>
                  </a:tcPr>
                </a:tc>
              </a:tr>
              <a:tr h="365760">
                <a:tc>
                  <a:txBody>
                    <a:bodyPr/>
                    <a:lstStyle/>
                    <a:p>
                      <a:r>
                        <a:rPr sz="1050" b="1" i="0">
                          <a:solidFill>
                            <a:srgbClr val="202124"/>
                          </a:solidFill>
                          <a:latin typeface="Google Sans Flex"/>
                          <a:ea typeface="Google Sans Flex"/>
                          <a:cs typeface="Google Sans Flex"/>
                        </a:rPr>
                        <a:t>Build effort</a:t>
                      </a:r>
                    </a:p>
                  </a:txBody>
                  <a:tcPr marL="73152" marR="73152" marT="27432" marB="27432" anchor="ctr">
                    <a:solidFill>
                      <a:srgbClr val="F1F3F4"/>
                    </a:solidFill>
                  </a:tcPr>
                </a:tc>
                <a:tc>
                  <a:txBody>
                    <a:bodyPr/>
                    <a:lstStyle/>
                    <a:p>
                      <a:r>
                        <a:rPr sz="1050" b="0" i="0">
                          <a:solidFill>
                            <a:srgbClr val="202124"/>
                          </a:solidFill>
                          <a:latin typeface="Google Sans Flex"/>
                          <a:ea typeface="Google Sans Flex"/>
                          <a:cs typeface="Google Sans Flex"/>
                        </a:rPr>
                        <a:t>People and time</a:t>
                      </a:r>
                    </a:p>
                  </a:txBody>
                  <a:tcPr marL="73152" marR="73152" marT="27432" marB="27432" anchor="ctr">
                    <a:solidFill>
                      <a:srgbClr val="F1F3F4"/>
                    </a:solidFill>
                  </a:tcPr>
                </a:tc>
                <a:tc>
                  <a:txBody>
                    <a:bodyPr/>
                    <a:lstStyle/>
                    <a:p>
                      <a:r>
                        <a:rPr sz="1050" b="0" i="0">
                          <a:solidFill>
                            <a:srgbClr val="202124"/>
                          </a:solidFill>
                          <a:latin typeface="Google Sans Flex"/>
                          <a:ea typeface="Google Sans Flex"/>
                          <a:cs typeface="Google Sans Flex"/>
                        </a:rPr>
                        <a:t>9–18 Oct 2026 sprint, team of three</a:t>
                      </a:r>
                    </a:p>
                  </a:txBody>
                  <a:tcPr marL="73152" marR="73152" marT="27432" marB="27432" anchor="ctr">
                    <a:solidFill>
                      <a:srgbClr val="F1F3F4"/>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23"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33" name="Google Shape;133;p23"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34" name="Google Shape;134;p23"/>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5" name="Google Shape;135;p23"/>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Snapshots of the prototype</a:t>
            </a:r>
            <a:endParaRPr sz="1600">
              <a:latin typeface="Google Sans Flex Medium"/>
              <a:ea typeface="Google Sans Flex Medium"/>
              <a:cs typeface="Google Sans Flex Medium"/>
              <a:sym typeface="Google Sans Flex Medium"/>
            </a:endParaRPr>
          </a:p>
        </p:txBody>
      </p:sp>
      <p:pic>
        <p:nvPicPr>
          <p:cNvPr id="136" name="Picture 135" descr="p4_4_365x696.png"/>
          <p:cNvPicPr>
            <a:picLocks noChangeAspect="1"/>
          </p:cNvPicPr>
          <p:nvPr/>
        </p:nvPicPr>
        <p:blipFill>
          <a:blip r:embed="rId5"/>
          <a:stretch>
            <a:fillRect/>
          </a:stretch>
        </p:blipFill>
        <p:spPr>
          <a:xfrm>
            <a:off x="392410" y="1188720"/>
            <a:ext cx="1702347" cy="3246120"/>
          </a:xfrm>
          <a:prstGeom prst="rect">
            <a:avLst/>
          </a:prstGeom>
        </p:spPr>
      </p:pic>
      <p:sp>
        <p:nvSpPr>
          <p:cNvPr id="137" name="TextBox 136"/>
          <p:cNvSpPr txBox="1"/>
          <p:nvPr/>
        </p:nvSpPr>
        <p:spPr>
          <a:xfrm>
            <a:off x="411480" y="4480560"/>
            <a:ext cx="1618487" cy="411480"/>
          </a:xfrm>
          <a:prstGeom prst="rect">
            <a:avLst/>
          </a:prstGeom>
          <a:noFill/>
        </p:spPr>
        <p:txBody>
          <a:bodyPr wrap="square" lIns="36576" rIns="36576" tIns="36576" bIns="36576" anchor="t">
            <a:spAutoFit/>
          </a:bodyPr>
          <a:lstStyle/>
          <a:p>
            <a:pPr algn="ctr">
              <a:spcAft>
                <a:spcPts val="300"/>
              </a:spcAft>
            </a:pPr>
            <a:r>
              <a:rPr sz="1050" b="0" i="0">
                <a:solidFill>
                  <a:srgbClr val="202124"/>
                </a:solidFill>
                <a:latin typeface="Google Sans Flex"/>
                <a:ea typeface="Google Sans Flex"/>
                <a:cs typeface="Google Sans Flex"/>
              </a:rPr>
              <a:t>1  Greets by name and starts on a tap</a:t>
            </a:r>
          </a:p>
        </p:txBody>
      </p:sp>
      <p:pic>
        <p:nvPicPr>
          <p:cNvPr id="138" name="Picture 137" descr="p4_2_356x700.png"/>
          <p:cNvPicPr>
            <a:picLocks noChangeAspect="1"/>
          </p:cNvPicPr>
          <p:nvPr/>
        </p:nvPicPr>
        <p:blipFill>
          <a:blip r:embed="rId6"/>
          <a:stretch>
            <a:fillRect/>
          </a:stretch>
        </p:blipFill>
        <p:spPr>
          <a:xfrm>
            <a:off x="2082350" y="1188720"/>
            <a:ext cx="1650884" cy="3246120"/>
          </a:xfrm>
          <a:prstGeom prst="rect">
            <a:avLst/>
          </a:prstGeom>
        </p:spPr>
      </p:pic>
      <p:sp>
        <p:nvSpPr>
          <p:cNvPr id="139" name="TextBox 138"/>
          <p:cNvSpPr txBox="1"/>
          <p:nvPr/>
        </p:nvSpPr>
        <p:spPr>
          <a:xfrm>
            <a:off x="2075688" y="4480560"/>
            <a:ext cx="1618487" cy="411480"/>
          </a:xfrm>
          <a:prstGeom prst="rect">
            <a:avLst/>
          </a:prstGeom>
          <a:noFill/>
        </p:spPr>
        <p:txBody>
          <a:bodyPr wrap="square" lIns="36576" rIns="36576" tIns="36576" bIns="36576" anchor="t">
            <a:spAutoFit/>
          </a:bodyPr>
          <a:lstStyle/>
          <a:p>
            <a:pPr algn="ctr">
              <a:spcAft>
                <a:spcPts val="300"/>
              </a:spcAft>
            </a:pPr>
            <a:r>
              <a:rPr sz="1050" b="0" i="0">
                <a:solidFill>
                  <a:srgbClr val="202124"/>
                </a:solidFill>
                <a:latin typeface="Google Sans Flex"/>
                <a:ea typeface="Google Sans Flex"/>
                <a:cs typeface="Google Sans Flex"/>
              </a:rPr>
              <a:t>2  Listens in Hindi or English</a:t>
            </a:r>
          </a:p>
        </p:txBody>
      </p:sp>
      <p:pic>
        <p:nvPicPr>
          <p:cNvPr id="140" name="Picture 139" descr="p4_3_375x698.png"/>
          <p:cNvPicPr>
            <a:picLocks noChangeAspect="1"/>
          </p:cNvPicPr>
          <p:nvPr/>
        </p:nvPicPr>
        <p:blipFill>
          <a:blip r:embed="rId7"/>
          <a:stretch>
            <a:fillRect/>
          </a:stretch>
        </p:blipFill>
        <p:spPr>
          <a:xfrm>
            <a:off x="3700012" y="1188720"/>
            <a:ext cx="1743976" cy="3246120"/>
          </a:xfrm>
          <a:prstGeom prst="rect">
            <a:avLst/>
          </a:prstGeom>
        </p:spPr>
      </p:pic>
      <p:sp>
        <p:nvSpPr>
          <p:cNvPr id="141" name="TextBox 140"/>
          <p:cNvSpPr txBox="1"/>
          <p:nvPr/>
        </p:nvSpPr>
        <p:spPr>
          <a:xfrm>
            <a:off x="3739896" y="4480560"/>
            <a:ext cx="1618487" cy="411480"/>
          </a:xfrm>
          <a:prstGeom prst="rect">
            <a:avLst/>
          </a:prstGeom>
          <a:noFill/>
        </p:spPr>
        <p:txBody>
          <a:bodyPr wrap="square" lIns="36576" rIns="36576" tIns="36576" bIns="36576" anchor="t">
            <a:spAutoFit/>
          </a:bodyPr>
          <a:lstStyle/>
          <a:p>
            <a:pPr algn="ctr">
              <a:spcAft>
                <a:spcPts val="300"/>
              </a:spcAft>
            </a:pPr>
            <a:r>
              <a:rPr sz="1050" b="0" i="0">
                <a:solidFill>
                  <a:srgbClr val="202124"/>
                </a:solidFill>
                <a:latin typeface="Google Sans Flex"/>
                <a:ea typeface="Google Sans Flex"/>
                <a:cs typeface="Google Sans Flex"/>
              </a:rPr>
              <a:t>3  Asks one question at a time</a:t>
            </a:r>
          </a:p>
        </p:txBody>
      </p:sp>
      <p:pic>
        <p:nvPicPr>
          <p:cNvPr id="142" name="Picture 141" descr="p4_1_356x698.png"/>
          <p:cNvPicPr>
            <a:picLocks noChangeAspect="1"/>
          </p:cNvPicPr>
          <p:nvPr/>
        </p:nvPicPr>
        <p:blipFill>
          <a:blip r:embed="rId8"/>
          <a:stretch>
            <a:fillRect/>
          </a:stretch>
        </p:blipFill>
        <p:spPr>
          <a:xfrm>
            <a:off x="5408400" y="1188720"/>
            <a:ext cx="1655614" cy="3246120"/>
          </a:xfrm>
          <a:prstGeom prst="rect">
            <a:avLst/>
          </a:prstGeom>
        </p:spPr>
      </p:pic>
      <p:sp>
        <p:nvSpPr>
          <p:cNvPr id="143" name="TextBox 142"/>
          <p:cNvSpPr txBox="1"/>
          <p:nvPr/>
        </p:nvSpPr>
        <p:spPr>
          <a:xfrm>
            <a:off x="5404103" y="4480560"/>
            <a:ext cx="1618487" cy="411480"/>
          </a:xfrm>
          <a:prstGeom prst="rect">
            <a:avLst/>
          </a:prstGeom>
          <a:noFill/>
        </p:spPr>
        <p:txBody>
          <a:bodyPr wrap="square" lIns="36576" rIns="36576" tIns="36576" bIns="36576" anchor="t">
            <a:spAutoFit/>
          </a:bodyPr>
          <a:lstStyle/>
          <a:p>
            <a:pPr algn="ctr">
              <a:spcAft>
                <a:spcPts val="300"/>
              </a:spcAft>
            </a:pPr>
            <a:r>
              <a:rPr sz="1050" b="0" i="0">
                <a:solidFill>
                  <a:srgbClr val="202124"/>
                </a:solidFill>
                <a:latin typeface="Google Sans Flex"/>
                <a:ea typeface="Google Sans Flex"/>
                <a:cs typeface="Google Sans Flex"/>
              </a:rPr>
              <a:t>4  Cart with real amounts</a:t>
            </a:r>
          </a:p>
        </p:txBody>
      </p:sp>
      <p:pic>
        <p:nvPicPr>
          <p:cNvPr id="144" name="Picture 143" descr="p4_0_339x698.png"/>
          <p:cNvPicPr>
            <a:picLocks noChangeAspect="1"/>
          </p:cNvPicPr>
          <p:nvPr/>
        </p:nvPicPr>
        <p:blipFill>
          <a:blip r:embed="rId9"/>
          <a:stretch>
            <a:fillRect/>
          </a:stretch>
        </p:blipFill>
        <p:spPr>
          <a:xfrm>
            <a:off x="7112139" y="1188720"/>
            <a:ext cx="1576554" cy="3246120"/>
          </a:xfrm>
          <a:prstGeom prst="rect">
            <a:avLst/>
          </a:prstGeom>
        </p:spPr>
      </p:pic>
      <p:sp>
        <p:nvSpPr>
          <p:cNvPr id="145" name="TextBox 144"/>
          <p:cNvSpPr txBox="1"/>
          <p:nvPr/>
        </p:nvSpPr>
        <p:spPr>
          <a:xfrm>
            <a:off x="7068312" y="4480560"/>
            <a:ext cx="1618487" cy="411480"/>
          </a:xfrm>
          <a:prstGeom prst="rect">
            <a:avLst/>
          </a:prstGeom>
          <a:noFill/>
        </p:spPr>
        <p:txBody>
          <a:bodyPr wrap="square" lIns="36576" rIns="36576" tIns="36576" bIns="36576" anchor="t">
            <a:spAutoFit/>
          </a:bodyPr>
          <a:lstStyle/>
          <a:p>
            <a:pPr algn="ctr">
              <a:spcAft>
                <a:spcPts val="300"/>
              </a:spcAft>
            </a:pPr>
            <a:r>
              <a:rPr sz="1050" b="0" i="0">
                <a:solidFill>
                  <a:srgbClr val="202124"/>
                </a:solidFill>
                <a:latin typeface="Google Sans Flex"/>
                <a:ea typeface="Google Sans Flex"/>
                <a:cs typeface="Google Sans Flex"/>
              </a:rPr>
              <a:t>5  Fingerprint payment (test mode)</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id="140" name="Google Shape;140;p24"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1" name="Google Shape;141;p24"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42" name="Google Shape;142;p24"/>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 name="Google Shape;143;p24"/>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Prototype Performance report/Benchmarking</a:t>
            </a:r>
            <a:endParaRPr sz="1600">
              <a:latin typeface="Google Sans Flex Medium"/>
              <a:ea typeface="Google Sans Flex Medium"/>
              <a:cs typeface="Google Sans Flex Medium"/>
              <a:sym typeface="Google Sans Flex Medium"/>
            </a:endParaRPr>
          </a:p>
        </p:txBody>
      </p:sp>
      <p:sp>
        <p:nvSpPr>
          <p:cNvPr id="144" name="Rounded Rectangle 143"/>
          <p:cNvSpPr/>
          <p:nvPr/>
        </p:nvSpPr>
        <p:spPr>
          <a:xfrm>
            <a:off x="411480" y="1188720"/>
            <a:ext cx="1993392" cy="86868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extBox 144"/>
          <p:cNvSpPr txBox="1"/>
          <p:nvPr/>
        </p:nvSpPr>
        <p:spPr>
          <a:xfrm>
            <a:off x="484632" y="1207008"/>
            <a:ext cx="1828800" cy="365760"/>
          </a:xfrm>
          <a:prstGeom prst="rect">
            <a:avLst/>
          </a:prstGeom>
          <a:noFill/>
        </p:spPr>
        <p:txBody>
          <a:bodyPr wrap="square" lIns="36576" rIns="36576" tIns="36576" bIns="36576" anchor="t">
            <a:spAutoFit/>
          </a:bodyPr>
          <a:lstStyle/>
          <a:p>
            <a:pPr algn="l">
              <a:spcAft>
                <a:spcPts val="300"/>
              </a:spcAft>
            </a:pPr>
            <a:r>
              <a:rPr sz="1900" b="1" i="0">
                <a:solidFill>
                  <a:srgbClr val="1A73E8"/>
                </a:solidFill>
                <a:latin typeface="Google Sans Flex"/>
                <a:ea typeface="Google Sans Flex"/>
                <a:cs typeface="Google Sans Flex"/>
              </a:rPr>
              <a:t>525</a:t>
            </a:r>
          </a:p>
        </p:txBody>
      </p:sp>
      <p:sp>
        <p:nvSpPr>
          <p:cNvPr id="146" name="TextBox 145"/>
          <p:cNvSpPr txBox="1"/>
          <p:nvPr/>
        </p:nvSpPr>
        <p:spPr>
          <a:xfrm>
            <a:off x="484632" y="1572768"/>
            <a:ext cx="1874519"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products in the demo catalogue</a:t>
            </a:r>
          </a:p>
        </p:txBody>
      </p:sp>
      <p:sp>
        <p:nvSpPr>
          <p:cNvPr id="147" name="Rounded Rectangle 146"/>
          <p:cNvSpPr/>
          <p:nvPr/>
        </p:nvSpPr>
        <p:spPr>
          <a:xfrm>
            <a:off x="2532888" y="1188720"/>
            <a:ext cx="1993392" cy="86868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8" name="TextBox 147"/>
          <p:cNvSpPr txBox="1"/>
          <p:nvPr/>
        </p:nvSpPr>
        <p:spPr>
          <a:xfrm>
            <a:off x="2606040" y="1207008"/>
            <a:ext cx="1828800" cy="365760"/>
          </a:xfrm>
          <a:prstGeom prst="rect">
            <a:avLst/>
          </a:prstGeom>
          <a:noFill/>
        </p:spPr>
        <p:txBody>
          <a:bodyPr wrap="square" lIns="36576" rIns="36576" tIns="36576" bIns="36576" anchor="t">
            <a:spAutoFit/>
          </a:bodyPr>
          <a:lstStyle/>
          <a:p>
            <a:pPr algn="l">
              <a:spcAft>
                <a:spcPts val="300"/>
              </a:spcAft>
            </a:pPr>
            <a:r>
              <a:rPr sz="1900" b="1" i="0">
                <a:solidFill>
                  <a:srgbClr val="188038"/>
                </a:solidFill>
                <a:latin typeface="Google Sans Flex"/>
                <a:ea typeface="Google Sans Flex"/>
                <a:cs typeface="Google Sans Flex"/>
              </a:rPr>
              <a:t>385</a:t>
            </a:r>
          </a:p>
        </p:txBody>
      </p:sp>
      <p:sp>
        <p:nvSpPr>
          <p:cNvPr id="149" name="TextBox 148"/>
          <p:cNvSpPr txBox="1"/>
          <p:nvPr/>
        </p:nvSpPr>
        <p:spPr>
          <a:xfrm>
            <a:off x="2606040" y="1572768"/>
            <a:ext cx="1874519"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automated tests, plus a full order walkthrough</a:t>
            </a:r>
          </a:p>
        </p:txBody>
      </p:sp>
      <p:sp>
        <p:nvSpPr>
          <p:cNvPr id="150" name="Rounded Rectangle 149"/>
          <p:cNvSpPr/>
          <p:nvPr/>
        </p:nvSpPr>
        <p:spPr>
          <a:xfrm>
            <a:off x="4654296" y="1188720"/>
            <a:ext cx="1993392" cy="86868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extBox 150"/>
          <p:cNvSpPr txBox="1"/>
          <p:nvPr/>
        </p:nvSpPr>
        <p:spPr>
          <a:xfrm>
            <a:off x="4727448" y="1207008"/>
            <a:ext cx="1828800" cy="365760"/>
          </a:xfrm>
          <a:prstGeom prst="rect">
            <a:avLst/>
          </a:prstGeom>
          <a:noFill/>
        </p:spPr>
        <p:txBody>
          <a:bodyPr wrap="square" lIns="36576" rIns="36576" tIns="36576" bIns="36576" anchor="t">
            <a:spAutoFit/>
          </a:bodyPr>
          <a:lstStyle/>
          <a:p>
            <a:pPr algn="l">
              <a:spcAft>
                <a:spcPts val="300"/>
              </a:spcAft>
            </a:pPr>
            <a:r>
              <a:rPr sz="1900" b="1" i="0">
                <a:solidFill>
                  <a:srgbClr val="B06000"/>
                </a:solidFill>
                <a:latin typeface="Google Sans Flex"/>
                <a:ea typeface="Google Sans Flex"/>
                <a:cs typeface="Google Sans Flex"/>
              </a:rPr>
              <a:t>$0.01–0.04</a:t>
            </a:r>
          </a:p>
        </p:txBody>
      </p:sp>
      <p:sp>
        <p:nvSpPr>
          <p:cNvPr id="152" name="TextBox 151"/>
          <p:cNvSpPr txBox="1"/>
          <p:nvPr/>
        </p:nvSpPr>
        <p:spPr>
          <a:xfrm>
            <a:off x="4727448" y="1572768"/>
            <a:ext cx="1874519"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per voice session in test runs</a:t>
            </a:r>
          </a:p>
        </p:txBody>
      </p:sp>
      <p:sp>
        <p:nvSpPr>
          <p:cNvPr id="153" name="Rounded Rectangle 152"/>
          <p:cNvSpPr/>
          <p:nvPr/>
        </p:nvSpPr>
        <p:spPr>
          <a:xfrm>
            <a:off x="6775703" y="1188720"/>
            <a:ext cx="1993392" cy="868680"/>
          </a:xfrm>
          <a:prstGeom prst="roundRect">
            <a:avLst>
              <a:gd name="adj" fmla="val 6000"/>
            </a:avLst>
          </a:prstGeom>
          <a:solidFill>
            <a:srgbClr val="FCE8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 name="TextBox 153"/>
          <p:cNvSpPr txBox="1"/>
          <p:nvPr/>
        </p:nvSpPr>
        <p:spPr>
          <a:xfrm>
            <a:off x="6848855" y="1207008"/>
            <a:ext cx="1828800" cy="365760"/>
          </a:xfrm>
          <a:prstGeom prst="rect">
            <a:avLst/>
          </a:prstGeom>
          <a:noFill/>
        </p:spPr>
        <p:txBody>
          <a:bodyPr wrap="square" lIns="36576" rIns="36576" tIns="36576" bIns="36576" anchor="t">
            <a:spAutoFit/>
          </a:bodyPr>
          <a:lstStyle/>
          <a:p>
            <a:pPr algn="l">
              <a:spcAft>
                <a:spcPts val="300"/>
              </a:spcAft>
            </a:pPr>
            <a:r>
              <a:rPr sz="1900" b="1" i="0">
                <a:solidFill>
                  <a:srgbClr val="C5221F"/>
                </a:solidFill>
                <a:latin typeface="Google Sans Flex"/>
                <a:ea typeface="Google Sans Flex"/>
                <a:cs typeface="Google Sans Flex"/>
              </a:rPr>
              <a:t>0</a:t>
            </a:r>
          </a:p>
        </p:txBody>
      </p:sp>
      <p:sp>
        <p:nvSpPr>
          <p:cNvPr id="155" name="TextBox 154"/>
          <p:cNvSpPr txBox="1"/>
          <p:nvPr/>
        </p:nvSpPr>
        <p:spPr>
          <a:xfrm>
            <a:off x="6848855" y="1572768"/>
            <a:ext cx="1874519" cy="457200"/>
          </a:xfrm>
          <a:prstGeom prst="rect">
            <a:avLst/>
          </a:prstGeom>
          <a:noFill/>
        </p:spPr>
        <p:txBody>
          <a:bodyPr wrap="square" lIns="36576" rIns="36576" tIns="36576" bIns="36576" anchor="t">
            <a:spAutoFit/>
          </a:bodyPr>
          <a:lstStyle/>
          <a:p>
            <a:pPr algn="l">
              <a:spcAft>
                <a:spcPts val="300"/>
              </a:spcAft>
            </a:pPr>
            <a:r>
              <a:rPr sz="1050" b="0" i="0">
                <a:solidFill>
                  <a:srgbClr val="202124"/>
                </a:solidFill>
                <a:latin typeface="Google Sans Flex"/>
                <a:ea typeface="Google Sans Flex"/>
                <a:cs typeface="Google Sans Flex"/>
              </a:rPr>
              <a:t>audio, video or transcripts stored</a:t>
            </a:r>
          </a:p>
        </p:txBody>
      </p:sp>
      <p:graphicFrame>
        <p:nvGraphicFramePr>
          <p:cNvPr id="156" name="Table 155"/>
          <p:cNvGraphicFramePr>
            <a:graphicFrameLocks noGrp="1"/>
          </p:cNvGraphicFramePr>
          <p:nvPr/>
        </p:nvGraphicFramePr>
        <p:xfrm>
          <a:off x="411480" y="2194560"/>
          <a:ext cx="8321040" cy="2688336"/>
        </p:xfrm>
        <a:graphic>
          <a:graphicData uri="http://schemas.openxmlformats.org/drawingml/2006/table">
            <a:tbl>
              <a:tblPr firstRow="1" bandRow="1">
                <a:tableStyleId>{5C22544A-7EE6-4342-B048-85BDC9FD1C3A}</a:tableStyleId>
              </a:tblPr>
              <a:tblGrid>
                <a:gridCol w="2377440"/>
                <a:gridCol w="1188720"/>
                <a:gridCol w="4754880"/>
              </a:tblGrid>
              <a:tr h="384048">
                <a:tc>
                  <a:txBody>
                    <a:bodyPr/>
                    <a:lstStyle/>
                    <a:p>
                      <a:r>
                        <a:rPr sz="1000" b="1" i="0">
                          <a:solidFill>
                            <a:srgbClr val="FFFFFF"/>
                          </a:solidFill>
                          <a:latin typeface="Google Sans Flex"/>
                          <a:ea typeface="Google Sans Flex"/>
                          <a:cs typeface="Google Sans Flex"/>
                        </a:rPr>
                        <a:t>What we measured</a:t>
                      </a:r>
                    </a:p>
                  </a:txBody>
                  <a:tcPr marL="73152" marR="73152" marT="18288" marB="18288" anchor="ctr">
                    <a:solidFill>
                      <a:srgbClr val="202124"/>
                    </a:solidFill>
                  </a:tcPr>
                </a:tc>
                <a:tc>
                  <a:txBody>
                    <a:bodyPr/>
                    <a:lstStyle/>
                    <a:p>
                      <a:r>
                        <a:rPr sz="1000" b="1" i="0">
                          <a:solidFill>
                            <a:srgbClr val="FFFFFF"/>
                          </a:solidFill>
                          <a:latin typeface="Google Sans Flex"/>
                          <a:ea typeface="Google Sans Flex"/>
                          <a:cs typeface="Google Sans Flex"/>
                        </a:rPr>
                        <a:t>Target</a:t>
                      </a:r>
                    </a:p>
                  </a:txBody>
                  <a:tcPr marL="73152" marR="73152" marT="18288" marB="18288" anchor="ctr">
                    <a:solidFill>
                      <a:srgbClr val="202124"/>
                    </a:solidFill>
                  </a:tcPr>
                </a:tc>
                <a:tc>
                  <a:txBody>
                    <a:bodyPr/>
                    <a:lstStyle/>
                    <a:p>
                      <a:r>
                        <a:rPr sz="1000" b="1" i="0">
                          <a:solidFill>
                            <a:srgbClr val="FFFFFF"/>
                          </a:solidFill>
                          <a:latin typeface="Google Sans Flex"/>
                          <a:ea typeface="Google Sans Flex"/>
                          <a:cs typeface="Google Sans Flex"/>
                        </a:rPr>
                        <a:t>Result so far</a:t>
                      </a:r>
                    </a:p>
                  </a:txBody>
                  <a:tcPr marL="73152" marR="73152" marT="18288" marB="18288" anchor="ctr">
                    <a:solidFill>
                      <a:srgbClr val="202124"/>
                    </a:solidFill>
                  </a:tcPr>
                </a:tc>
              </a:tr>
              <a:tr h="384048">
                <a:tc>
                  <a:txBody>
                    <a:bodyPr/>
                    <a:lstStyle/>
                    <a:p>
                      <a:r>
                        <a:rPr sz="1000" b="1" i="0">
                          <a:solidFill>
                            <a:srgbClr val="202124"/>
                          </a:solidFill>
                          <a:latin typeface="Google Sans Flex"/>
                          <a:ea typeface="Google Sans Flex"/>
                          <a:cs typeface="Google Sans Flex"/>
                        </a:rPr>
                        <a:t>First reply after the shopper stops</a:t>
                      </a:r>
                    </a:p>
                  </a:txBody>
                  <a:tcPr marL="73152" marR="73152" marT="18288" marB="18288" anchor="ctr">
                    <a:solidFill>
                      <a:srgbClr val="FFFFFF"/>
                    </a:solidFill>
                  </a:tcPr>
                </a:tc>
                <a:tc>
                  <a:txBody>
                    <a:bodyPr/>
                    <a:lstStyle/>
                    <a:p>
                      <a:r>
                        <a:rPr sz="1000" b="0" i="0">
                          <a:solidFill>
                            <a:srgbClr val="202124"/>
                          </a:solidFill>
                          <a:latin typeface="Google Sans Flex"/>
                          <a:ea typeface="Google Sans Flex"/>
                          <a:cs typeface="Google Sans Flex"/>
                        </a:rPr>
                        <a:t>Under 1.5 s</a:t>
                      </a:r>
                    </a:p>
                  </a:txBody>
                  <a:tcPr marL="73152" marR="73152" marT="18288" marB="18288" anchor="ctr">
                    <a:solidFill>
                      <a:srgbClr val="FFFFFF"/>
                    </a:solidFill>
                  </a:tcPr>
                </a:tc>
                <a:tc>
                  <a:txBody>
                    <a:bodyPr/>
                    <a:lstStyle/>
                    <a:p>
                      <a:r>
                        <a:rPr sz="1000" b="0" i="0">
                          <a:solidFill>
                            <a:srgbClr val="202124"/>
                          </a:solidFill>
                          <a:latin typeface="Google Sans Flex"/>
                          <a:ea typeface="Google Sans Flex"/>
                          <a:cs typeface="Google Sans Flex"/>
                        </a:rPr>
                        <a:t>5.5–7.4 s in text-mode rehearsal; voice run felt natural; mic timing still to measure</a:t>
                      </a:r>
                    </a:p>
                  </a:txBody>
                  <a:tcPr marL="73152" marR="73152" marT="18288" marB="18288" anchor="ctr">
                    <a:solidFill>
                      <a:srgbClr val="FFFFFF"/>
                    </a:solidFill>
                  </a:tcPr>
                </a:tc>
              </a:tr>
              <a:tr h="384048">
                <a:tc>
                  <a:txBody>
                    <a:bodyPr/>
                    <a:lstStyle/>
                    <a:p>
                      <a:r>
                        <a:rPr sz="1000" b="1" i="0">
                          <a:solidFill>
                            <a:srgbClr val="202124"/>
                          </a:solidFill>
                          <a:latin typeface="Google Sans Flex"/>
                          <a:ea typeface="Google Sans Flex"/>
                          <a:cs typeface="Google Sans Flex"/>
                        </a:rPr>
                        <a:t>Stops talking when interrupted</a:t>
                      </a:r>
                    </a:p>
                  </a:txBody>
                  <a:tcPr marL="73152" marR="73152" marT="18288" marB="18288" anchor="ctr">
                    <a:solidFill>
                      <a:srgbClr val="F1F3F4"/>
                    </a:solidFill>
                  </a:tcPr>
                </a:tc>
                <a:tc>
                  <a:txBody>
                    <a:bodyPr/>
                    <a:lstStyle/>
                    <a:p>
                      <a:r>
                        <a:rPr sz="1000" b="0" i="0">
                          <a:solidFill>
                            <a:srgbClr val="202124"/>
                          </a:solidFill>
                          <a:latin typeface="Google Sans Flex"/>
                          <a:ea typeface="Google Sans Flex"/>
                          <a:cs typeface="Google Sans Flex"/>
                        </a:rPr>
                        <a:t>Under 300 ms</a:t>
                      </a:r>
                    </a:p>
                  </a:txBody>
                  <a:tcPr marL="73152" marR="73152" marT="18288" marB="18288" anchor="ctr">
                    <a:solidFill>
                      <a:srgbClr val="F1F3F4"/>
                    </a:solidFill>
                  </a:tcPr>
                </a:tc>
                <a:tc>
                  <a:txBody>
                    <a:bodyPr/>
                    <a:lstStyle/>
                    <a:p>
                      <a:r>
                        <a:rPr sz="1000" b="0" i="0">
                          <a:solidFill>
                            <a:srgbClr val="202124"/>
                          </a:solidFill>
                          <a:latin typeface="Google Sans Flex"/>
                          <a:ea typeface="Google Sans Flex"/>
                          <a:cs typeface="Google Sans Flex"/>
                        </a:rPr>
                        <a:t>Audio queue flushed on interrupt (widget tested); timing to measure on demo machine</a:t>
                      </a:r>
                    </a:p>
                  </a:txBody>
                  <a:tcPr marL="73152" marR="73152" marT="18288" marB="18288" anchor="ctr">
                    <a:solidFill>
                      <a:srgbClr val="F1F3F4"/>
                    </a:solidFill>
                  </a:tcPr>
                </a:tc>
              </a:tr>
              <a:tr h="384048">
                <a:tc>
                  <a:txBody>
                    <a:bodyPr/>
                    <a:lstStyle/>
                    <a:p>
                      <a:r>
                        <a:rPr sz="1000" b="1" i="0">
                          <a:solidFill>
                            <a:srgbClr val="202124"/>
                          </a:solidFill>
                          <a:latin typeface="Google Sans Flex"/>
                          <a:ea typeface="Google Sans Flex"/>
                          <a:cs typeface="Google Sans Flex"/>
                        </a:rPr>
                        <a:t>Safety and product claims</a:t>
                      </a:r>
                    </a:p>
                  </a:txBody>
                  <a:tcPr marL="73152" marR="73152" marT="18288" marB="18288" anchor="ctr">
                    <a:solidFill>
                      <a:srgbClr val="FFFFFF"/>
                    </a:solidFill>
                  </a:tcPr>
                </a:tc>
                <a:tc>
                  <a:txBody>
                    <a:bodyPr/>
                    <a:lstStyle/>
                    <a:p>
                      <a:r>
                        <a:rPr sz="1000" b="0" i="0">
                          <a:solidFill>
                            <a:srgbClr val="202124"/>
                          </a:solidFill>
                          <a:latin typeface="Google Sans Flex"/>
                          <a:ea typeface="Google Sans Flex"/>
                          <a:cs typeface="Google Sans Flex"/>
                        </a:rPr>
                        <a:t>Zero violations</a:t>
                      </a:r>
                    </a:p>
                  </a:txBody>
                  <a:tcPr marL="73152" marR="73152" marT="18288" marB="18288" anchor="ctr">
                    <a:solidFill>
                      <a:srgbClr val="FFFFFF"/>
                    </a:solidFill>
                  </a:tcPr>
                </a:tc>
                <a:tc>
                  <a:txBody>
                    <a:bodyPr/>
                    <a:lstStyle/>
                    <a:p>
                      <a:r>
                        <a:rPr sz="1000" b="0" i="0">
                          <a:solidFill>
                            <a:srgbClr val="202124"/>
                          </a:solidFill>
                          <a:latin typeface="Google Sans Flex"/>
                          <a:ea typeface="Google Sans Flex"/>
                          <a:cs typeface="Google Sans Flex"/>
                        </a:rPr>
                        <a:t>24-prompt safety suite passes; 27-case claims check, 0 violations</a:t>
                      </a:r>
                    </a:p>
                  </a:txBody>
                  <a:tcPr marL="73152" marR="73152" marT="18288" marB="18288" anchor="ctr">
                    <a:solidFill>
                      <a:srgbClr val="FFFFFF"/>
                    </a:solidFill>
                  </a:tcPr>
                </a:tc>
              </a:tr>
              <a:tr h="384048">
                <a:tc>
                  <a:txBody>
                    <a:bodyPr/>
                    <a:lstStyle/>
                    <a:p>
                      <a:r>
                        <a:rPr sz="1000" b="1" i="0">
                          <a:solidFill>
                            <a:srgbClr val="202124"/>
                          </a:solidFill>
                          <a:latin typeface="Google Sans Flex"/>
                          <a:ea typeface="Google Sans Flex"/>
                          <a:cs typeface="Google Sans Flex"/>
                        </a:rPr>
                        <a:t>Right item, right quantity</a:t>
                      </a:r>
                    </a:p>
                  </a:txBody>
                  <a:tcPr marL="73152" marR="73152" marT="18288" marB="18288" anchor="ctr">
                    <a:solidFill>
                      <a:srgbClr val="F1F3F4"/>
                    </a:solidFill>
                  </a:tcPr>
                </a:tc>
                <a:tc>
                  <a:txBody>
                    <a:bodyPr/>
                    <a:lstStyle/>
                    <a:p>
                      <a:r>
                        <a:rPr sz="1000" b="0" i="0">
                          <a:solidFill>
                            <a:srgbClr val="202124"/>
                          </a:solidFill>
                          <a:latin typeface="Google Sans Flex"/>
                          <a:ea typeface="Google Sans Flex"/>
                          <a:cs typeface="Google Sans Flex"/>
                        </a:rPr>
                        <a:t>Exact</a:t>
                      </a:r>
                    </a:p>
                  </a:txBody>
                  <a:tcPr marL="73152" marR="73152" marT="18288" marB="18288" anchor="ctr">
                    <a:solidFill>
                      <a:srgbClr val="F1F3F4"/>
                    </a:solidFill>
                  </a:tcPr>
                </a:tc>
                <a:tc>
                  <a:txBody>
                    <a:bodyPr/>
                    <a:lstStyle/>
                    <a:p>
                      <a:r>
                        <a:rPr sz="1000" b="0" i="0">
                          <a:solidFill>
                            <a:srgbClr val="202124"/>
                          </a:solidFill>
                          <a:latin typeface="Google Sans Flex"/>
                          <a:ea typeface="Google Sans Flex"/>
                          <a:cs typeface="Google Sans Flex"/>
                        </a:rPr>
                        <a:t>2 L milk and 250 g tomatoes added by voice; read-back equals the cart</a:t>
                      </a:r>
                    </a:p>
                  </a:txBody>
                  <a:tcPr marL="73152" marR="73152" marT="18288" marB="18288" anchor="ctr">
                    <a:solidFill>
                      <a:srgbClr val="F1F3F4"/>
                    </a:solidFill>
                  </a:tcPr>
                </a:tc>
              </a:tr>
              <a:tr h="384048">
                <a:tc>
                  <a:txBody>
                    <a:bodyPr/>
                    <a:lstStyle/>
                    <a:p>
                      <a:r>
                        <a:rPr sz="1000" b="1" i="0">
                          <a:solidFill>
                            <a:srgbClr val="202124"/>
                          </a:solidFill>
                          <a:latin typeface="Google Sans Flex"/>
                          <a:ea typeface="Google Sans Flex"/>
                          <a:cs typeface="Google Sans Flex"/>
                        </a:rPr>
                        <a:t>One approval to pay</a:t>
                      </a:r>
                    </a:p>
                  </a:txBody>
                  <a:tcPr marL="73152" marR="73152" marT="18288" marB="18288" anchor="ctr">
                    <a:solidFill>
                      <a:srgbClr val="FFFFFF"/>
                    </a:solidFill>
                  </a:tcPr>
                </a:tc>
                <a:tc>
                  <a:txBody>
                    <a:bodyPr/>
                    <a:lstStyle/>
                    <a:p>
                      <a:r>
                        <a:rPr sz="1000" b="0" i="0">
                          <a:solidFill>
                            <a:srgbClr val="202124"/>
                          </a:solidFill>
                          <a:latin typeface="Google Sans Flex"/>
                          <a:ea typeface="Google Sans Flex"/>
                          <a:cs typeface="Google Sans Flex"/>
                        </a:rPr>
                        <a:t>Exactly one</a:t>
                      </a:r>
                    </a:p>
                  </a:txBody>
                  <a:tcPr marL="73152" marR="73152" marT="18288" marB="18288" anchor="ctr">
                    <a:solidFill>
                      <a:srgbClr val="FFFFFF"/>
                    </a:solidFill>
                  </a:tcPr>
                </a:tc>
                <a:tc>
                  <a:txBody>
                    <a:bodyPr/>
                    <a:lstStyle/>
                    <a:p>
                      <a:r>
                        <a:rPr sz="1000" b="0" i="0">
                          <a:solidFill>
                            <a:srgbClr val="202124"/>
                          </a:solidFill>
                          <a:latin typeface="Google Sans Flex"/>
                          <a:ea typeface="Google Sans Flex"/>
                          <a:cs typeface="Google Sans Flex"/>
                        </a:rPr>
                        <a:t>A spoken “yes, pay” places no order; one fingerprint completes it</a:t>
                      </a:r>
                    </a:p>
                  </a:txBody>
                  <a:tcPr marL="73152" marR="73152" marT="18288" marB="18288" anchor="ctr">
                    <a:solidFill>
                      <a:srgbClr val="FFFFFF"/>
                    </a:solidFill>
                  </a:tcPr>
                </a:tc>
              </a:tr>
              <a:tr h="384048">
                <a:tc>
                  <a:txBody>
                    <a:bodyPr/>
                    <a:lstStyle/>
                    <a:p>
                      <a:r>
                        <a:rPr sz="1000" b="1" i="0">
                          <a:solidFill>
                            <a:srgbClr val="202124"/>
                          </a:solidFill>
                          <a:latin typeface="Google Sans Flex"/>
                          <a:ea typeface="Google Sans Flex"/>
                          <a:cs typeface="Google Sans Flex"/>
                        </a:rPr>
                        <a:t>Avatar video bandwidth</a:t>
                      </a:r>
                    </a:p>
                  </a:txBody>
                  <a:tcPr marL="73152" marR="73152" marT="18288" marB="18288" anchor="ctr">
                    <a:solidFill>
                      <a:srgbClr val="F1F3F4"/>
                    </a:solidFill>
                  </a:tcPr>
                </a:tc>
                <a:tc>
                  <a:txBody>
                    <a:bodyPr/>
                    <a:lstStyle/>
                    <a:p>
                      <a:r>
                        <a:rPr sz="1000" b="0" i="0">
                          <a:solidFill>
                            <a:srgbClr val="202124"/>
                          </a:solidFill>
                          <a:latin typeface="Google Sans Flex"/>
                          <a:ea typeface="Google Sans Flex"/>
                          <a:cs typeface="Google Sans Flex"/>
                        </a:rPr>
                        <a:t>n/a</a:t>
                      </a:r>
                    </a:p>
                  </a:txBody>
                  <a:tcPr marL="73152" marR="73152" marT="18288" marB="18288" anchor="ctr">
                    <a:solidFill>
                      <a:srgbClr val="F1F3F4"/>
                    </a:solidFill>
                  </a:tcPr>
                </a:tc>
                <a:tc>
                  <a:txBody>
                    <a:bodyPr/>
                    <a:lstStyle/>
                    <a:p>
                      <a:r>
                        <a:rPr sz="1000" b="0" i="0">
                          <a:solidFill>
                            <a:srgbClr val="202124"/>
                          </a:solidFill>
                          <a:latin typeface="Google Sans Flex"/>
                          <a:ea typeface="Google Sans Flex"/>
                          <a:cs typeface="Google Sans Flex"/>
                        </a:rPr>
                        <a:t>About 4–5 Mbit/s, so audio-only is the default</a:t>
                      </a:r>
                    </a:p>
                  </a:txBody>
                  <a:tcPr marL="73152" marR="73152" marT="18288" marB="18288" anchor="ctr">
                    <a:solidFill>
                      <a:srgbClr val="F1F3F4"/>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25"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49" name="Google Shape;149;p25"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0" name="Google Shape;150;p25"/>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25"/>
          <p:cNvSpPr txBox="1"/>
          <p:nvPr/>
        </p:nvSpPr>
        <p:spPr>
          <a:xfrm>
            <a:off x="265350" y="663825"/>
            <a:ext cx="8943000" cy="56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Additional Details/Future Development (if any)</a:t>
            </a:r>
            <a:endParaRPr sz="1600">
              <a:latin typeface="Google Sans Flex Medium"/>
              <a:ea typeface="Google Sans Flex Medium"/>
              <a:cs typeface="Google Sans Flex Medium"/>
              <a:sym typeface="Google Sans Flex Medium"/>
            </a:endParaRPr>
          </a:p>
        </p:txBody>
      </p:sp>
      <p:sp>
        <p:nvSpPr>
          <p:cNvPr id="152" name="Rounded Rectangle 151"/>
          <p:cNvSpPr/>
          <p:nvPr/>
        </p:nvSpPr>
        <p:spPr>
          <a:xfrm>
            <a:off x="411480" y="1188720"/>
            <a:ext cx="2697480" cy="1188720"/>
          </a:xfrm>
          <a:prstGeom prst="roundRect">
            <a:avLst>
              <a:gd name="adj" fmla="val 6000"/>
            </a:avLst>
          </a:prstGeom>
          <a:solidFill>
            <a:srgbClr val="E8F0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extBox 152"/>
          <p:cNvSpPr txBox="1"/>
          <p:nvPr/>
        </p:nvSpPr>
        <p:spPr>
          <a:xfrm>
            <a:off x="521208" y="1243584"/>
            <a:ext cx="2468880" cy="320040"/>
          </a:xfrm>
          <a:prstGeom prst="rect">
            <a:avLst/>
          </a:prstGeom>
          <a:noFill/>
        </p:spPr>
        <p:txBody>
          <a:bodyPr wrap="square" lIns="36576" rIns="36576" tIns="36576" bIns="36576" anchor="t">
            <a:spAutoFit/>
          </a:bodyPr>
          <a:lstStyle/>
          <a:p>
            <a:pPr algn="l">
              <a:spcAft>
                <a:spcPts val="300"/>
              </a:spcAft>
            </a:pPr>
            <a:r>
              <a:rPr sz="1500" b="1" i="0">
                <a:solidFill>
                  <a:srgbClr val="1A73E8"/>
                </a:solidFill>
                <a:latin typeface="Google Sans Flex"/>
                <a:ea typeface="Google Sans Flex"/>
                <a:cs typeface="Google Sans Flex"/>
              </a:rPr>
              <a:t>Now</a:t>
            </a:r>
          </a:p>
        </p:txBody>
      </p:sp>
      <p:sp>
        <p:nvSpPr>
          <p:cNvPr id="154" name="TextBox 153"/>
          <p:cNvSpPr txBox="1"/>
          <p:nvPr/>
        </p:nvSpPr>
        <p:spPr>
          <a:xfrm>
            <a:off x="521208" y="1627632"/>
            <a:ext cx="2468880" cy="7315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Voice and tap shopping in Hindi and English, one cart, fingerprint checkout</a:t>
            </a:r>
          </a:p>
        </p:txBody>
      </p:sp>
      <p:sp>
        <p:nvSpPr>
          <p:cNvPr id="155" name="Rounded Rectangle 154"/>
          <p:cNvSpPr/>
          <p:nvPr/>
        </p:nvSpPr>
        <p:spPr>
          <a:xfrm>
            <a:off x="3223260" y="1188720"/>
            <a:ext cx="2697480" cy="118872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6" name="TextBox 155"/>
          <p:cNvSpPr txBox="1"/>
          <p:nvPr/>
        </p:nvSpPr>
        <p:spPr>
          <a:xfrm>
            <a:off x="3332988" y="1243584"/>
            <a:ext cx="2468880" cy="320040"/>
          </a:xfrm>
          <a:prstGeom prst="rect">
            <a:avLst/>
          </a:prstGeom>
          <a:noFill/>
        </p:spPr>
        <p:txBody>
          <a:bodyPr wrap="square" lIns="36576" rIns="36576" tIns="36576" bIns="36576" anchor="t">
            <a:spAutoFit/>
          </a:bodyPr>
          <a:lstStyle/>
          <a:p>
            <a:pPr algn="l">
              <a:spcAft>
                <a:spcPts val="300"/>
              </a:spcAft>
            </a:pPr>
            <a:r>
              <a:rPr sz="1500" b="1" i="0">
                <a:solidFill>
                  <a:srgbClr val="188038"/>
                </a:solidFill>
                <a:latin typeface="Google Sans Flex"/>
                <a:ea typeface="Google Sans Flex"/>
                <a:cs typeface="Google Sans Flex"/>
              </a:rPr>
              <a:t>Next</a:t>
            </a:r>
          </a:p>
        </p:txBody>
      </p:sp>
      <p:sp>
        <p:nvSpPr>
          <p:cNvPr id="157" name="TextBox 156"/>
          <p:cNvSpPr txBox="1"/>
          <p:nvPr/>
        </p:nvSpPr>
        <p:spPr>
          <a:xfrm>
            <a:off x="3332988" y="1627632"/>
            <a:ext cx="2468880" cy="7315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More JAPAC languages, real merchants through UCP, live pilot on Cloud Run</a:t>
            </a:r>
          </a:p>
        </p:txBody>
      </p:sp>
      <p:sp>
        <p:nvSpPr>
          <p:cNvPr id="158" name="Rounded Rectangle 157"/>
          <p:cNvSpPr/>
          <p:nvPr/>
        </p:nvSpPr>
        <p:spPr>
          <a:xfrm>
            <a:off x="6035040" y="1188720"/>
            <a:ext cx="2697480" cy="1188720"/>
          </a:xfrm>
          <a:prstGeom prst="roundRect">
            <a:avLst>
              <a:gd name="adj" fmla="val 6000"/>
            </a:avLst>
          </a:prstGeom>
          <a:solidFill>
            <a:srgbClr val="FEF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extBox 158"/>
          <p:cNvSpPr txBox="1"/>
          <p:nvPr/>
        </p:nvSpPr>
        <p:spPr>
          <a:xfrm>
            <a:off x="6144768" y="1243584"/>
            <a:ext cx="2468880" cy="320040"/>
          </a:xfrm>
          <a:prstGeom prst="rect">
            <a:avLst/>
          </a:prstGeom>
          <a:noFill/>
        </p:spPr>
        <p:txBody>
          <a:bodyPr wrap="square" lIns="36576" rIns="36576" tIns="36576" bIns="36576" anchor="t">
            <a:spAutoFit/>
          </a:bodyPr>
          <a:lstStyle/>
          <a:p>
            <a:pPr algn="l">
              <a:spcAft>
                <a:spcPts val="300"/>
              </a:spcAft>
            </a:pPr>
            <a:r>
              <a:rPr sz="1500" b="1" i="0">
                <a:solidFill>
                  <a:srgbClr val="B06000"/>
                </a:solidFill>
                <a:latin typeface="Google Sans Flex"/>
                <a:ea typeface="Google Sans Flex"/>
                <a:cs typeface="Google Sans Flex"/>
              </a:rPr>
              <a:t>Later</a:t>
            </a:r>
          </a:p>
        </p:txBody>
      </p:sp>
      <p:sp>
        <p:nvSpPr>
          <p:cNvPr id="160" name="TextBox 159"/>
          <p:cNvSpPr txBox="1"/>
          <p:nvPr/>
        </p:nvSpPr>
        <p:spPr>
          <a:xfrm>
            <a:off x="6144768" y="1627632"/>
            <a:ext cx="2468880" cy="731520"/>
          </a:xfrm>
          <a:prstGeom prst="rect">
            <a:avLst/>
          </a:prstGeom>
          <a:noFill/>
        </p:spPr>
        <p:txBody>
          <a:bodyPr wrap="square" lIns="36576" rIns="36576" tIns="36576" bIns="36576" anchor="t">
            <a:spAutoFit/>
          </a:bodyPr>
          <a:lstStyle/>
          <a:p>
            <a:pPr algn="l">
              <a:spcAft>
                <a:spcPts val="300"/>
              </a:spcAft>
            </a:pPr>
            <a:r>
              <a:rPr sz="1150" b="0" i="0">
                <a:solidFill>
                  <a:srgbClr val="202124"/>
                </a:solidFill>
                <a:latin typeface="Google Sans Flex"/>
                <a:ea typeface="Google Sans Flex"/>
                <a:cs typeface="Google Sans Flex"/>
              </a:rPr>
              <a:t>Pilots with senior communities and family-assisted ordering</a:t>
            </a:r>
          </a:p>
        </p:txBody>
      </p:sp>
      <p:sp>
        <p:nvSpPr>
          <p:cNvPr id="161" name="TextBox 160"/>
          <p:cNvSpPr txBox="1"/>
          <p:nvPr/>
        </p:nvSpPr>
        <p:spPr>
          <a:xfrm>
            <a:off x="411480" y="2542032"/>
            <a:ext cx="8321040" cy="274320"/>
          </a:xfrm>
          <a:prstGeom prst="rect">
            <a:avLst/>
          </a:prstGeom>
          <a:noFill/>
        </p:spPr>
        <p:txBody>
          <a:bodyPr wrap="square" lIns="36576" rIns="36576" tIns="36576" bIns="36576" anchor="t">
            <a:spAutoFit/>
          </a:bodyPr>
          <a:lstStyle/>
          <a:p>
            <a:pPr algn="l">
              <a:spcAft>
                <a:spcPts val="300"/>
              </a:spcAft>
            </a:pPr>
            <a:r>
              <a:rPr sz="1300" b="1" i="0">
                <a:solidFill>
                  <a:srgbClr val="202124"/>
                </a:solidFill>
                <a:latin typeface="Google Sans Flex"/>
                <a:ea typeface="Google Sans Flex"/>
                <a:cs typeface="Google Sans Flex"/>
              </a:rPr>
              <a:t>Built to scale across JAPAC</a:t>
            </a:r>
          </a:p>
        </p:txBody>
      </p:sp>
      <p:sp>
        <p:nvSpPr>
          <p:cNvPr id="162" name="Rounded Rectangle 161"/>
          <p:cNvSpPr/>
          <p:nvPr/>
        </p:nvSpPr>
        <p:spPr>
          <a:xfrm>
            <a:off x="411480" y="2926080"/>
            <a:ext cx="1993392" cy="192024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Oval 162"/>
          <p:cNvSpPr/>
          <p:nvPr/>
        </p:nvSpPr>
        <p:spPr>
          <a:xfrm>
            <a:off x="502920" y="3035808"/>
            <a:ext cx="274320" cy="274320"/>
          </a:xfrm>
          <a:prstGeom prst="ellipse">
            <a:avLst/>
          </a:prstGeom>
          <a:solidFill>
            <a:srgbClr val="1A73E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1</a:t>
            </a:r>
          </a:p>
        </p:txBody>
      </p:sp>
      <p:sp>
        <p:nvSpPr>
          <p:cNvPr id="164" name="TextBox 163"/>
          <p:cNvSpPr txBox="1"/>
          <p:nvPr/>
        </p:nvSpPr>
        <p:spPr>
          <a:xfrm>
            <a:off x="850392" y="2990088"/>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Language is one setting</a:t>
            </a:r>
          </a:p>
        </p:txBody>
      </p:sp>
      <p:sp>
        <p:nvSpPr>
          <p:cNvPr id="165" name="TextBox 164"/>
          <p:cNvSpPr txBox="1"/>
          <p:nvPr/>
        </p:nvSpPr>
        <p:spPr>
          <a:xfrm>
            <a:off x="502920" y="3520440"/>
            <a:ext cx="1810512" cy="1280160"/>
          </a:xfrm>
          <a:prstGeom prst="rect">
            <a:avLst/>
          </a:prstGeom>
          <a:noFill/>
        </p:spPr>
        <p:txBody>
          <a:bodyPr wrap="square" lIns="36576" rIns="36576" tIns="36576" bIns="36576" anchor="t">
            <a:spAutoFit/>
          </a:bodyPr>
          <a:lstStyle/>
          <a:p>
            <a:pPr algn="l">
              <a:spcAft>
                <a:spcPts val="300"/>
              </a:spcAft>
            </a:pPr>
            <a:r>
              <a:rPr sz="1200" b="0" i="0">
                <a:solidFill>
                  <a:srgbClr val="202124"/>
                </a:solidFill>
                <a:latin typeface="Google Sans Flex"/>
                <a:ea typeface="Google Sans Flex"/>
                <a:cs typeface="Google Sans Flex"/>
              </a:rPr>
              <a:t>Hindi and English today. Each new language is a setting, not a rebuild.</a:t>
            </a:r>
          </a:p>
        </p:txBody>
      </p:sp>
      <p:sp>
        <p:nvSpPr>
          <p:cNvPr id="166" name="Rounded Rectangle 165"/>
          <p:cNvSpPr/>
          <p:nvPr/>
        </p:nvSpPr>
        <p:spPr>
          <a:xfrm>
            <a:off x="2532888" y="2926080"/>
            <a:ext cx="1993392" cy="192024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Oval 166"/>
          <p:cNvSpPr/>
          <p:nvPr/>
        </p:nvSpPr>
        <p:spPr>
          <a:xfrm>
            <a:off x="2624328" y="3035808"/>
            <a:ext cx="274320" cy="274320"/>
          </a:xfrm>
          <a:prstGeom prst="ellipse">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2</a:t>
            </a:r>
          </a:p>
        </p:txBody>
      </p:sp>
      <p:sp>
        <p:nvSpPr>
          <p:cNvPr id="168" name="TextBox 167"/>
          <p:cNvSpPr txBox="1"/>
          <p:nvPr/>
        </p:nvSpPr>
        <p:spPr>
          <a:xfrm>
            <a:off x="2971800" y="2990088"/>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Voice fits mobile-first markets</a:t>
            </a:r>
          </a:p>
        </p:txBody>
      </p:sp>
      <p:sp>
        <p:nvSpPr>
          <p:cNvPr id="169" name="TextBox 168"/>
          <p:cNvSpPr txBox="1"/>
          <p:nvPr/>
        </p:nvSpPr>
        <p:spPr>
          <a:xfrm>
            <a:off x="2624328" y="3520440"/>
            <a:ext cx="1810512" cy="1280160"/>
          </a:xfrm>
          <a:prstGeom prst="rect">
            <a:avLst/>
          </a:prstGeom>
          <a:noFill/>
        </p:spPr>
        <p:txBody>
          <a:bodyPr wrap="square" lIns="36576" rIns="36576" tIns="36576" bIns="36576" anchor="t">
            <a:spAutoFit/>
          </a:bodyPr>
          <a:lstStyle/>
          <a:p>
            <a:pPr algn="l">
              <a:spcAft>
                <a:spcPts val="300"/>
              </a:spcAft>
            </a:pPr>
            <a:r>
              <a:rPr sz="1200" b="0" i="0">
                <a:solidFill>
                  <a:srgbClr val="202124"/>
                </a:solidFill>
                <a:latin typeface="Google Sans Flex"/>
                <a:ea typeface="Google Sans Flex"/>
                <a:cs typeface="Google Sans Flex"/>
              </a:rPr>
              <a:t>Speaking works for shoppers who live on their phones, whatever their reading level.</a:t>
            </a:r>
          </a:p>
        </p:txBody>
      </p:sp>
      <p:sp>
        <p:nvSpPr>
          <p:cNvPr id="170" name="Rounded Rectangle 169"/>
          <p:cNvSpPr/>
          <p:nvPr/>
        </p:nvSpPr>
        <p:spPr>
          <a:xfrm>
            <a:off x="4654296" y="2926080"/>
            <a:ext cx="1993392" cy="192024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1" name="Oval 170"/>
          <p:cNvSpPr/>
          <p:nvPr/>
        </p:nvSpPr>
        <p:spPr>
          <a:xfrm>
            <a:off x="4745736" y="3035808"/>
            <a:ext cx="274320" cy="274320"/>
          </a:xfrm>
          <a:prstGeom prst="ellipse">
            <a:avLst/>
          </a:prstGeom>
          <a:solidFill>
            <a:srgbClr val="B060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3</a:t>
            </a:r>
          </a:p>
        </p:txBody>
      </p:sp>
      <p:sp>
        <p:nvSpPr>
          <p:cNvPr id="172" name="TextBox 171"/>
          <p:cNvSpPr txBox="1"/>
          <p:nvPr/>
        </p:nvSpPr>
        <p:spPr>
          <a:xfrm>
            <a:off x="5093208" y="2990088"/>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Any merchant can plug in</a:t>
            </a:r>
          </a:p>
        </p:txBody>
      </p:sp>
      <p:sp>
        <p:nvSpPr>
          <p:cNvPr id="173" name="TextBox 172"/>
          <p:cNvSpPr txBox="1"/>
          <p:nvPr/>
        </p:nvSpPr>
        <p:spPr>
          <a:xfrm>
            <a:off x="4745736" y="3520440"/>
            <a:ext cx="1810512" cy="1280160"/>
          </a:xfrm>
          <a:prstGeom prst="rect">
            <a:avLst/>
          </a:prstGeom>
          <a:noFill/>
        </p:spPr>
        <p:txBody>
          <a:bodyPr wrap="square" lIns="36576" rIns="36576" tIns="36576" bIns="36576" anchor="t">
            <a:spAutoFit/>
          </a:bodyPr>
          <a:lstStyle/>
          <a:p>
            <a:pPr algn="l">
              <a:spcAft>
                <a:spcPts val="300"/>
              </a:spcAft>
            </a:pPr>
            <a:r>
              <a:rPr sz="1200" b="0" i="0">
                <a:solidFill>
                  <a:srgbClr val="202124"/>
                </a:solidFill>
                <a:latin typeface="Google Sans Flex"/>
                <a:ea typeface="Google Sans Flex"/>
                <a:cs typeface="Google Sans Flex"/>
              </a:rPr>
              <a:t>Open protocols (UCP, AP2) connect any store and payment method.</a:t>
            </a:r>
          </a:p>
        </p:txBody>
      </p:sp>
      <p:sp>
        <p:nvSpPr>
          <p:cNvPr id="174" name="Rounded Rectangle 173"/>
          <p:cNvSpPr/>
          <p:nvPr/>
        </p:nvSpPr>
        <p:spPr>
          <a:xfrm>
            <a:off x="6775703" y="2926080"/>
            <a:ext cx="1993392" cy="1920240"/>
          </a:xfrm>
          <a:prstGeom prst="roundRect">
            <a:avLst>
              <a:gd name="adj" fmla="val 6000"/>
            </a:avLst>
          </a:prstGeom>
          <a:solidFill>
            <a:srgbClr val="FFFFFF"/>
          </a:solidFill>
          <a:ln w="9525">
            <a:solidFill>
              <a:srgbClr val="DADC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5" name="Oval 174"/>
          <p:cNvSpPr/>
          <p:nvPr/>
        </p:nvSpPr>
        <p:spPr>
          <a:xfrm>
            <a:off x="6867143" y="3035808"/>
            <a:ext cx="274320" cy="274320"/>
          </a:xfrm>
          <a:prstGeom prst="ellipse">
            <a:avLst/>
          </a:prstGeom>
          <a:solidFill>
            <a:srgbClr val="C522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i="0">
                <a:solidFill>
                  <a:srgbClr val="FFFFFF"/>
                </a:solidFill>
                <a:latin typeface="Google Sans Flex"/>
                <a:ea typeface="Google Sans Flex"/>
                <a:cs typeface="Google Sans Flex"/>
              </a:rPr>
              <a:t>4</a:t>
            </a:r>
          </a:p>
        </p:txBody>
      </p:sp>
      <p:sp>
        <p:nvSpPr>
          <p:cNvPr id="176" name="TextBox 175"/>
          <p:cNvSpPr txBox="1"/>
          <p:nvPr/>
        </p:nvSpPr>
        <p:spPr>
          <a:xfrm>
            <a:off x="7214615" y="2990088"/>
            <a:ext cx="1508760" cy="411480"/>
          </a:xfrm>
          <a:prstGeom prst="rect">
            <a:avLst/>
          </a:prstGeom>
          <a:noFill/>
        </p:spPr>
        <p:txBody>
          <a:bodyPr wrap="square" lIns="36576" rIns="36576" tIns="36576" bIns="36576" anchor="ctr">
            <a:spAutoFit/>
          </a:bodyPr>
          <a:lstStyle/>
          <a:p>
            <a:pPr algn="l">
              <a:spcAft>
                <a:spcPts val="300"/>
              </a:spcAft>
            </a:pPr>
            <a:r>
              <a:rPr sz="1100" b="1" i="0">
                <a:solidFill>
                  <a:srgbClr val="202124"/>
                </a:solidFill>
                <a:latin typeface="Google Sans Flex"/>
                <a:ea typeface="Google Sans Flex"/>
                <a:cs typeface="Google Sans Flex"/>
              </a:rPr>
              <a:t>Scales without a rebuild</a:t>
            </a:r>
          </a:p>
        </p:txBody>
      </p:sp>
      <p:sp>
        <p:nvSpPr>
          <p:cNvPr id="177" name="TextBox 176"/>
          <p:cNvSpPr txBox="1"/>
          <p:nvPr/>
        </p:nvSpPr>
        <p:spPr>
          <a:xfrm>
            <a:off x="6867143" y="3520440"/>
            <a:ext cx="1810512" cy="1280160"/>
          </a:xfrm>
          <a:prstGeom prst="rect">
            <a:avLst/>
          </a:prstGeom>
          <a:noFill/>
        </p:spPr>
        <p:txBody>
          <a:bodyPr wrap="square" lIns="36576" rIns="36576" tIns="36576" bIns="36576" anchor="t">
            <a:spAutoFit/>
          </a:bodyPr>
          <a:lstStyle/>
          <a:p>
            <a:pPr algn="l">
              <a:spcAft>
                <a:spcPts val="300"/>
              </a:spcAft>
            </a:pPr>
            <a:r>
              <a:rPr sz="1200" b="0" i="0">
                <a:solidFill>
                  <a:srgbClr val="202124"/>
                </a:solidFill>
                <a:latin typeface="Google Sans Flex"/>
                <a:ea typeface="Google Sans Flex"/>
                <a:cs typeface="Google Sans Flex"/>
              </a:rPr>
              <a:t>Managed Google Cloud services grow with demand, from pilot to region.</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6"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57" name="Google Shape;157;p26" title="Group 427319979.png"/>
          <p:cNvPicPr preferRelativeResize="0"/>
          <p:nvPr/>
        </p:nvPicPr>
        <p:blipFill>
          <a:blip r:embed="rId4">
            <a:alphaModFix/>
          </a:blip>
          <a:stretch>
            <a:fillRect/>
          </a:stretch>
        </p:blipFill>
        <p:spPr>
          <a:xfrm>
            <a:off x="0" y="1"/>
            <a:ext cx="9144000" cy="507359"/>
          </a:xfrm>
          <a:prstGeom prst="rect">
            <a:avLst/>
          </a:prstGeom>
          <a:noFill/>
          <a:ln>
            <a:noFill/>
          </a:ln>
        </p:spPr>
      </p:pic>
      <p:sp>
        <p:nvSpPr>
          <p:cNvPr id="158" name="Google Shape;158;p26"/>
          <p:cNvSpPr/>
          <p:nvPr/>
        </p:nvSpPr>
        <p:spPr>
          <a:xfrm>
            <a:off x="-29250" y="5071875"/>
            <a:ext cx="9173400" cy="97800"/>
          </a:xfrm>
          <a:prstGeom prst="rect">
            <a:avLst/>
          </a:prstGeom>
          <a:solidFill>
            <a:schemeClr val="dk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9" name="Google Shape;159;p26"/>
          <p:cNvSpPr txBox="1"/>
          <p:nvPr/>
        </p:nvSpPr>
        <p:spPr>
          <a:xfrm>
            <a:off x="265350" y="663825"/>
            <a:ext cx="8943000" cy="133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600">
                <a:latin typeface="Google Sans Flex Medium"/>
                <a:ea typeface="Google Sans Flex Medium"/>
                <a:cs typeface="Google Sans Flex Medium"/>
                <a:sym typeface="Google Sans Flex Medium"/>
              </a:rPr>
              <a:t>Provide links to your:</a:t>
            </a:r>
            <a:endParaRPr sz="1600">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a:p>
            <a:pPr indent="-317500" lvl="0" marL="457200" rtl="0" algn="l">
              <a:spcBef>
                <a:spcPts val="0"/>
              </a:spcBef>
              <a:spcAft>
                <a:spcPts val="600"/>
              </a:spcAft>
              <a:buSzPts val="1400"/>
              <a:buFont typeface="Google Sans Flex Medium"/>
              <a:buChar char="●"/>
            </a:pPr>
            <a:r>
              <a:rPr lang="en-GB">
                <a:latin typeface="Google Sans Flex Medium"/>
                <a:ea typeface="Google Sans Flex Medium"/>
                <a:cs typeface="Google Sans Flex Medium"/>
                <a:sym typeface="Google Sans Flex Medium"/>
              </a:rPr>
              <a:t>GitHub Public Repository: [add link]</a:t>
            </a:r>
            <a:endParaRPr>
              <a:latin typeface="Google Sans Flex Medium"/>
              <a:ea typeface="Google Sans Flex Medium"/>
              <a:cs typeface="Google Sans Flex Medium"/>
              <a:sym typeface="Google Sans Flex Medium"/>
            </a:endParaRPr>
          </a:p>
          <a:p>
            <a:pPr indent="-317500" lvl="0" marL="457200" rtl="0" algn="l">
              <a:spcBef>
                <a:spcPts val="0"/>
              </a:spcBef>
              <a:spcAft>
                <a:spcPts val="600"/>
              </a:spcAft>
              <a:buSzPts val="1400"/>
              <a:buFont typeface="Google Sans Flex Medium"/>
              <a:buChar char="●"/>
            </a:pPr>
            <a:r>
              <a:rPr lang="en-GB">
                <a:latin typeface="Google Sans Flex Medium"/>
                <a:ea typeface="Google Sans Flex Medium"/>
                <a:cs typeface="Google Sans Flex Medium"/>
                <a:sym typeface="Google Sans Flex Medium"/>
              </a:rPr>
              <a:t>Demo Video Link (3 Minutes): [add link]</a:t>
            </a:r>
            <a:endParaRPr>
              <a:latin typeface="Google Sans Flex Medium"/>
              <a:ea typeface="Google Sans Flex Medium"/>
              <a:cs typeface="Google Sans Flex Medium"/>
              <a:sym typeface="Google Sans Flex Medium"/>
            </a:endParaRPr>
          </a:p>
          <a:p>
            <a:pPr indent="-317500" lvl="0" marL="457200" rtl="0" algn="l">
              <a:spcBef>
                <a:spcPts val="0"/>
              </a:spcBef>
              <a:spcAft>
                <a:spcPts val="600"/>
              </a:spcAft>
              <a:buSzPts val="1400"/>
              <a:buFont typeface="Google Sans Flex Medium"/>
              <a:buChar char="●"/>
            </a:pPr>
            <a:r>
              <a:rPr lang="en-GB">
                <a:latin typeface="Google Sans Flex Medium"/>
                <a:ea typeface="Google Sans Flex Medium"/>
                <a:cs typeface="Google Sans Flex Medium"/>
                <a:sym typeface="Google Sans Flex Medium"/>
              </a:rPr>
              <a:t>Final Product Link: [add link]</a:t>
            </a:r>
            <a:endParaRPr>
              <a:latin typeface="Google Sans Flex Medium"/>
              <a:ea typeface="Google Sans Flex Medium"/>
              <a:cs typeface="Google Sans Flex Medium"/>
              <a:sym typeface="Google Sans Flex Medium"/>
            </a:endParaRPr>
          </a:p>
          <a:p>
            <a:pPr indent="0" lvl="0" marL="0" rtl="0" algn="l">
              <a:spcBef>
                <a:spcPts val="0"/>
              </a:spcBef>
              <a:spcAft>
                <a:spcPts val="0"/>
              </a:spcAft>
              <a:buNone/>
            </a:pPr>
            <a:r>
              <a:t/>
            </a:r>
            <a:endParaRPr sz="1600">
              <a:latin typeface="Google Sans Flex Medium"/>
              <a:ea typeface="Google Sans Flex Medium"/>
              <a:cs typeface="Google Sans Flex Medium"/>
              <a:sym typeface="Google Sans Flex Medium"/>
            </a:endParaRPr>
          </a:p>
        </p:txBody>
      </p:sp>
      <p:sp>
        <p:nvSpPr>
          <p:cNvPr id="160" name="TextBox 159"/>
          <p:cNvSpPr txBox="1"/>
          <p:nvPr/>
        </p:nvSpPr>
        <p:spPr>
          <a:xfrm>
            <a:off x="411480" y="2880360"/>
            <a:ext cx="8321040" cy="731520"/>
          </a:xfrm>
          <a:prstGeom prst="rect">
            <a:avLst/>
          </a:prstGeom>
          <a:noFill/>
        </p:spPr>
        <p:txBody>
          <a:bodyPr wrap="square" lIns="36576" rIns="36576" tIns="36576" bIns="36576" anchor="t">
            <a:spAutoFit/>
          </a:bodyPr>
          <a:lstStyle/>
          <a:p>
            <a:pPr algn="l">
              <a:spcAft>
                <a:spcPts val="600"/>
              </a:spcAft>
            </a:pPr>
            <a:r>
              <a:rPr sz="1300" b="1" i="0">
                <a:solidFill>
                  <a:srgbClr val="202124"/>
                </a:solidFill>
                <a:latin typeface="Google Sans Flex"/>
                <a:ea typeface="Google Sans Flex"/>
                <a:cs typeface="Google Sans Flex"/>
              </a:rPr>
              <a:t>Team AVA-AI  ·  </a:t>
            </a:r>
            <a:r>
              <a:rPr sz="1300" b="0" i="0">
                <a:solidFill>
                  <a:srgbClr val="202124"/>
                </a:solidFill>
                <a:latin typeface="Google Sans Flex"/>
                <a:ea typeface="Google Sans Flex"/>
                <a:cs typeface="Google Sans Flex"/>
              </a:rPr>
              <a:t>Alok Jain (leader), Vaibhav Singh, Akshada Borhade</a:t>
            </a:r>
          </a:p>
          <a:p>
            <a:pPr algn="l">
              <a:spcAft>
                <a:spcPts val="600"/>
              </a:spcAft>
            </a:pPr>
            <a:r>
              <a:rPr sz="1300" b="0" i="0">
                <a:solidFill>
                  <a:srgbClr val="5F6368"/>
                </a:solidFill>
                <a:latin typeface="Google Sans Flex"/>
                <a:ea typeface="Google Sans Flex"/>
                <a:cs typeface="Google Sans Flex"/>
              </a:rPr>
              <a:t>TalkToBuy: a voice-first AI shopkeeper that lets anyone shop in their own language</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pic>
        <p:nvPicPr>
          <p:cNvPr id="171" name="Google Shape;171;p28" title="Frame 144.png"/>
          <p:cNvPicPr preferRelativeResize="0"/>
          <p:nvPr/>
        </p:nvPicPr>
        <p:blipFill rotWithShape="1">
          <a:blip r:embed="rId3">
            <a:alphaModFix/>
          </a:blip>
          <a:srcRect b="98001" l="0" r="0" t="0"/>
          <a:stretch/>
        </p:blipFill>
        <p:spPr>
          <a:xfrm>
            <a:off x="0" y="5093562"/>
            <a:ext cx="9144000" cy="54275"/>
          </a:xfrm>
          <a:prstGeom prst="rect">
            <a:avLst/>
          </a:prstGeom>
          <a:noFill/>
          <a:ln>
            <a:noFill/>
          </a:ln>
        </p:spPr>
      </p:pic>
      <p:pic>
        <p:nvPicPr>
          <p:cNvPr id="172" name="Google Shape;172;p28" title="Frame 145.png"/>
          <p:cNvPicPr preferRelativeResize="0"/>
          <p:nvPr/>
        </p:nvPicPr>
        <p:blipFill>
          <a:blip r:embed="rId4">
            <a:alphaModFix/>
          </a:blip>
          <a:stretch>
            <a:fillRect/>
          </a:stretch>
        </p:blipFill>
        <p:spPr>
          <a:xfrm>
            <a:off x="0" y="0"/>
            <a:ext cx="9144000" cy="514351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